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2.svg" ContentType="image/svg+xml"/>
  <Override PartName="/ppt/media/image46.svg" ContentType="image/svg+xml"/>
  <Override PartName="/ppt/media/image48.svg" ContentType="image/svg+xml"/>
  <Override PartName="/ppt/media/image5.svg" ContentType="image/svg+xml"/>
  <Override PartName="/ppt/media/image50.svg" ContentType="image/svg+xml"/>
  <Override PartName="/ppt/media/image54.svg" ContentType="image/svg+xml"/>
  <Override PartName="/ppt/media/image56.svg" ContentType="image/svg+xml"/>
  <Override PartName="/ppt/media/image58.svg" ContentType="image/svg+xml"/>
  <Override PartName="/ppt/media/image61.svg" ContentType="image/svg+xml"/>
  <Override PartName="/ppt/media/image64.svg" ContentType="image/svg+xml"/>
  <Override PartName="/ppt/media/image66.svg" ContentType="image/svg+xml"/>
  <Override PartName="/ppt/media/image7.svg" ContentType="image/svg+xml"/>
  <Override PartName="/ppt/media/image70.svg" ContentType="image/svg+xml"/>
  <Override PartName="/ppt/media/image72.svg" ContentType="image/svg+xml"/>
  <Override PartName="/ppt/media/image74.svg" ContentType="image/svg+xml"/>
  <Override PartName="/ppt/media/image76.svg" ContentType="image/svg+xml"/>
  <Override PartName="/ppt/media/image81.svg" ContentType="image/svg+xml"/>
  <Override PartName="/ppt/media/image83.svg" ContentType="image/svg+xml"/>
  <Override PartName="/ppt/media/image85.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9" r:id="rId2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4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40"/>
        <p:guide pos="2880"/>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向各位汇报我们的“中国农业农村发展可视化大屏”项目。这个项目旨在通过先进的数据可视化技术，直观、生动地呈现我国农业农村的发展状况，为管理决策、科研教学和公众科普提供有力支持。接下来，我将从项目概况、设计思路、成果展示、团队基础和实际应用五个方面进行详细介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五个部分。首先，我会介绍项目的整体概况，包括背景、目标和数据来源。接着，将深入阐述我们的设计思路和所采用的关键技术。第三部分是本次汇报的重点，我将展示项目的核心特色和主要成果。之后，会介绍我们的团队成员和研究基础。最后，探讨项目的实际应用场景、价值以及未来的扩展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首先，我们来看第一部分：项目概况。在这一部分，我将介绍我们为什么要做这个项目，我们希望达成什么样的目标，以及我们是基于哪些数据来开展工作的。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项目的核心背景，源于对农业农村发展数据可视化的迫切需求。传统的数据报表往往枯燥、抽象，难以直观发现规律。因此，我们基于国家统计局的权威数据，致力于打造一个交互式的可视化大屏，让数据“活”起来，生动地讲述中国农业农村的发展故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项目设定了三个明确的目标。第一，实现空间分析，通过地图直观展示各省农业指标的分布和集聚特征。第二，进行时序和关联分析，洞察全国农业发展的长期趋势和指标间的相互关系。第三，构建综合评估体系，对各省份的乡村振兴水平进行量化打分和横向对比，从而识别其优势和短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项目的数据基础非常扎实。所有数据均来源于国家统计局公开发布的权威数据，涵盖了全国31个省份，时间跨度从2016年到2025年。我们共处理了近1000行有效数据，并将其组织成6张结构化的数据表，为后续的分析和可视化提供了坚实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接下来，进入第二部分，我将详细介绍我们项目的设计思路和所采用的关键技术。这部分将揭示我们是如何将数据转化为直观的可视化应用的。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系统采用了经典的三层架构。底层是数据层，我们通过一个离线的数据流水线，将原始的CSV数据处理并存储到轻量级的SQLite数据库中。中间是服务层，通过Flask框架构建了8个API接口，向前端提供数据。最上层是展示层，使用Vue和ECharts构建了三个交互页面，分别对应不同的分析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在技术选型上，我们追求轻量、高效和易用。后端采用Flask，数据库使用SQLite，前端则通过CDN引入Vue 3。可视化是本项目的核心，我们选择了功能强大的ECharts库，并配合高精度的DataV GeoJSON地图数据。所有这些技术的组合，保证了系统的高性能和易部署性。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分析能力主要依赖于三大关键算法。首先是空间分析算法，通过莫兰指数和LISA聚类，我们能发现农业发展在地理空间上的集聚现象。其次是关联分析，利用皮尔逊相关系数，我们可以量化不同指标之间的关系。最后，我们构建了乡村振兴综合指数，通过归一化和加权平均，将多个维度的指标整合成一个综合分数，便于直观对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数据处理是项目的基石。我们设计了一套自动化的数据流水线。通过两个Python脚本，我们将原始的CSV文件解析、计算派生指标，并最终构建成一个结构化的SQLite数据库。这个过程确保了数据的一致性和可用性，为上层应用提供了稳定的数据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现在，我们进入最核心的第三部分：项目特色及成果展示。我将向大家展示我们项目的独特之处，以及我们最终交付的三大核心成果。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项目有四大核心特色。第一，我们构建了一个多维度的可视化体系，从空间、时间、关联和综合四个角度全面分析数据。第二，我们引入了专业的空间分析能力，这是传统农业数据分析中比较少见的。第三，整个系统非常轻量化，一键启动，易于部署。第四，我们的视觉设计紧密贴合农业主题，营造出专业而温暖的氛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第一个核心成果是省级地图大屏。用户可以在这个页面上，通过地图直观地查看不同省份在不同年份、不同指标上的数据表现。页面还会自动生成Top5和Bottom5的排名，并提供莫兰指数的空间分析结果。交互上，点击省份可以查看其趋势对比，悬停可以查看详细数据，体验非常流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成果是全国趋势与关联分析页面。这个页面聚焦于宏观层面。通过相关性热力图，用户可以快速发现哪些指标关系密切。通过多指标趋势图，可以对比不同指标的长期变化。此外，散点拟合功能可以帮助我们深入分析任意两个省份在特定指标上的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成果是乡村振兴综合评估页面。这是我们项目的点睛之笔。我们通过算法计算出每个省份的乡村振兴综合指数并进行排名。用户可以通过雷达图，直观地看到某个省份在8个维度上的优势和短板。更有趣的是，通过四象限气泡图，我们可以将省份分为领先者、追赶者、潜力股和落后者，为精准施策提供了数据依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项目的成功离不开一个优秀的团队和扎实的研究基础。在第四部分，我将介绍我们的团队分工以及我们所依托的研究基础。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团队成员分工明确，协同高效。后端开发负责搭建服务和实现算法，前端可视化负责界面交互和图表呈现，数据处理团队负责数据的清洗和加工，设计与分析人员则把控整体的视觉风格和业务逻辑。正是这样紧密的合作，才保证了项目的顺利推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研究基础非常扎实。在数据层面，我们使用权威数据并进行了体系化梳理。在技术层面，团队拥有丰富的开发和分析经验。在领域层面，我们深入研究了乡村振兴的评估逻辑，并结合实际进行了优化。这三者共同构成了我们项目成功的基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最后，我们来谈谈这个项目的实际应用价值。一个好的技术项目，最终要能落地并产生实际影响。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可视化大屏主要有三个应用场景。首先是面向政府部门的管理决策，为政策制定提供数据支持。其次是面向高校和科研机构，作为科研和教学的辅助工具。最后是面向公众，通过生动的大屏展示，进行农业发展成果的科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来说，我们的项目具有三大应用价值。第一，它极大地提升了数据分析的效率，让决策者能更快地洞察信息。第二，它拓展了农业数据分析的维度，特别是引入了空间分析，提供了新的视角。第三，它具备很强的可落地性，轻量化的部署方式使其可以快速应用于各种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我的汇报到此结束，感谢各位的聆听！我们相信，通过数据可视化，能够更好地服务于乡村振兴战略，让农业更强、农村更美、农民更富。谢谢大家！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jpeg"/><Relationship Id="rId3" Type="http://schemas.openxmlformats.org/officeDocument/2006/relationships/slideLayout" Target="../slideLayouts/slideLayout1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slideLayout" Target="../slideLayouts/slideLayout1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image" Target="../media/image12.png"/><Relationship Id="rId5" Type="http://schemas.openxmlformats.org/officeDocument/2006/relationships/image" Target="../media/image13.svg"/><Relationship Id="rId6" Type="http://schemas.openxmlformats.org/officeDocument/2006/relationships/image" Target="../media/image14.png"/><Relationship Id="rId7" Type="http://schemas.openxmlformats.org/officeDocument/2006/relationships/image" Target="../media/image15.svg"/><Relationship Id="rId8" Type="http://schemas.openxmlformats.org/officeDocument/2006/relationships/slideLayout" Target="../slideLayouts/slideLayout1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image" Target="../media/image18.png"/><Relationship Id="rId5" Type="http://schemas.openxmlformats.org/officeDocument/2006/relationships/image" Target="../media/image19.svg"/><Relationship Id="rId6" Type="http://schemas.openxmlformats.org/officeDocument/2006/relationships/image" Target="../media/image20.png"/><Relationship Id="rId7" Type="http://schemas.openxmlformats.org/officeDocument/2006/relationships/image" Target="../media/image21.svg"/><Relationship Id="rId8" Type="http://schemas.openxmlformats.org/officeDocument/2006/relationships/slideLayout" Target="../slideLayouts/slideLayout1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image" Target="../media/image22.jpeg"/><Relationship Id="rId5" Type="http://schemas.openxmlformats.org/officeDocument/2006/relationships/tags" Target="../tags/tag3.xml"/><Relationship Id="rId6" Type="http://schemas.openxmlformats.org/officeDocument/2006/relationships/tags" Target="../tags/tag4.xml"/><Relationship Id="rId7" Type="http://schemas.openxmlformats.org/officeDocument/2006/relationships/tags" Target="../tags/tag5.xml"/><Relationship Id="rId8" Type="http://schemas.openxmlformats.org/officeDocument/2006/relationships/tags" Target="../tags/tag6.xml"/><Relationship Id="rId9" Type="http://schemas.openxmlformats.org/officeDocument/2006/relationships/tags" Target="../tags/tag7.xml"/><Relationship Id="rId10" Type="http://schemas.openxmlformats.org/officeDocument/2006/relationships/image" Target="../media/image23.jpeg"/><Relationship Id="rId11" Type="http://schemas.openxmlformats.org/officeDocument/2006/relationships/tags" Target="../tags/tag8.xml"/><Relationship Id="rId12" Type="http://schemas.openxmlformats.org/officeDocument/2006/relationships/tags" Target="../tags/tag9.xml"/><Relationship Id="rId13" Type="http://schemas.openxmlformats.org/officeDocument/2006/relationships/tags" Target="../tags/tag10.xml"/><Relationship Id="rId14" Type="http://schemas.openxmlformats.org/officeDocument/2006/relationships/tags" Target="../tags/tag11.xml"/><Relationship Id="rId15" Type="http://schemas.openxmlformats.org/officeDocument/2006/relationships/tags" Target="../tags/tag12.xml"/><Relationship Id="rId16" Type="http://schemas.openxmlformats.org/officeDocument/2006/relationships/image" Target="../media/image24.jpeg"/><Relationship Id="rId17" Type="http://schemas.openxmlformats.org/officeDocument/2006/relationships/tags" Target="../tags/tag13.xml"/><Relationship Id="rId18" Type="http://schemas.openxmlformats.org/officeDocument/2006/relationships/tags" Target="../tags/tag14.xml"/><Relationship Id="rId19" Type="http://schemas.openxmlformats.org/officeDocument/2006/relationships/tags" Target="../tags/tag15.xml"/><Relationship Id="rId20" Type="http://schemas.openxmlformats.org/officeDocument/2006/relationships/tags" Target="../tags/tag16.xml"/><Relationship Id="rId21" Type="http://schemas.openxmlformats.org/officeDocument/2006/relationships/tags" Target="../tags/tag17.xml"/><Relationship Id="rId22" Type="http://schemas.openxmlformats.org/officeDocument/2006/relationships/image" Target="../media/image25.jpeg"/><Relationship Id="rId23" Type="http://schemas.openxmlformats.org/officeDocument/2006/relationships/tags" Target="../tags/tag18.xml"/><Relationship Id="rId24" Type="http://schemas.openxmlformats.org/officeDocument/2006/relationships/tags" Target="../tags/tag19.xml"/><Relationship Id="rId25" Type="http://schemas.openxmlformats.org/officeDocument/2006/relationships/tags" Target="../tags/tag20.xml"/><Relationship Id="rId26" Type="http://schemas.openxmlformats.org/officeDocument/2006/relationships/tags" Target="../tags/tag21.xml"/><Relationship Id="rId27" Type="http://schemas.openxmlformats.org/officeDocument/2006/relationships/tags" Target="../tags/tag22.xml"/><Relationship Id="rId28" Type="http://schemas.openxmlformats.org/officeDocument/2006/relationships/image" Target="../media/image4.png"/><Relationship Id="rId29" Type="http://schemas.openxmlformats.org/officeDocument/2006/relationships/image" Target="../media/image5.svg"/><Relationship Id="rId30" Type="http://schemas.openxmlformats.org/officeDocument/2006/relationships/tags" Target="../tags/tag23.xml"/><Relationship Id="rId31" Type="http://schemas.openxmlformats.org/officeDocument/2006/relationships/tags" Target="../tags/tag24.xml"/><Relationship Id="rId32" Type="http://schemas.openxmlformats.org/officeDocument/2006/relationships/tags" Target="../tags/tag25.xml"/><Relationship Id="rId33" Type="http://schemas.openxmlformats.org/officeDocument/2006/relationships/tags" Target="../tags/tag26.xml"/><Relationship Id="rId34" Type="http://schemas.openxmlformats.org/officeDocument/2006/relationships/tags" Target="../tags/tag27.xml"/><Relationship Id="rId35" Type="http://schemas.openxmlformats.org/officeDocument/2006/relationships/image" Target="../media/image26.png"/><Relationship Id="rId36" Type="http://schemas.openxmlformats.org/officeDocument/2006/relationships/image" Target="../media/image27.svg"/><Relationship Id="rId37" Type="http://schemas.openxmlformats.org/officeDocument/2006/relationships/tags" Target="../tags/tag28.xml"/><Relationship Id="rId38" Type="http://schemas.openxmlformats.org/officeDocument/2006/relationships/tags" Target="../tags/tag29.xml"/><Relationship Id="rId39" Type="http://schemas.openxmlformats.org/officeDocument/2006/relationships/tags" Target="../tags/tag30.xml"/><Relationship Id="rId40" Type="http://schemas.openxmlformats.org/officeDocument/2006/relationships/slideLayout" Target="../slideLayouts/slideLayout12.xml"/><Relationship Id="rId4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image" Target="../media/image30.png"/><Relationship Id="rId5" Type="http://schemas.openxmlformats.org/officeDocument/2006/relationships/image" Target="../media/image31.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slideLayout" Target="../slideLayouts/slideLayout1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40.png"/><Relationship Id="rId9" Type="http://schemas.openxmlformats.org/officeDocument/2006/relationships/image" Target="../media/image17.svg"/><Relationship Id="rId10" Type="http://schemas.openxmlformats.org/officeDocument/2006/relationships/image" Target="../media/image41.png"/><Relationship Id="rId11" Type="http://schemas.openxmlformats.org/officeDocument/2006/relationships/image" Target="../media/image42.svg"/><Relationship Id="rId12" Type="http://schemas.openxmlformats.org/officeDocument/2006/relationships/slideLayout" Target="../slideLayouts/slideLayout12.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43.png"/><Relationship Id="rId3" Type="http://schemas.openxmlformats.org/officeDocument/2006/relationships/image" Target="../media/image21.svg"/><Relationship Id="rId4" Type="http://schemas.openxmlformats.org/officeDocument/2006/relationships/image" Target="../media/image44.png"/><Relationship Id="rId5" Type="http://schemas.openxmlformats.org/officeDocument/2006/relationships/image" Target="../media/image5.svg"/><Relationship Id="rId6" Type="http://schemas.openxmlformats.org/officeDocument/2006/relationships/image" Target="../media/image45.png"/><Relationship Id="rId7" Type="http://schemas.openxmlformats.org/officeDocument/2006/relationships/image" Target="../media/image46.svg"/><Relationship Id="rId8" Type="http://schemas.openxmlformats.org/officeDocument/2006/relationships/image" Target="../media/image47.png"/><Relationship Id="rId9" Type="http://schemas.openxmlformats.org/officeDocument/2006/relationships/image" Target="../media/image48.svg"/><Relationship Id="rId10" Type="http://schemas.openxmlformats.org/officeDocument/2006/relationships/slideLayout" Target="../slideLayouts/slideLayout12.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image" Target="../media/image44.png"/><Relationship Id="rId5" Type="http://schemas.openxmlformats.org/officeDocument/2006/relationships/image" Target="../media/image5.svg"/><Relationship Id="rId6" Type="http://schemas.openxmlformats.org/officeDocument/2006/relationships/image" Target="../media/image51.png"/><Relationship Id="rId7" Type="http://schemas.openxmlformats.org/officeDocument/2006/relationships/image" Target="../media/image9.svg"/><Relationship Id="rId8" Type="http://schemas.openxmlformats.org/officeDocument/2006/relationships/image" Target="../media/image52.png"/><Relationship Id="rId9" Type="http://schemas.openxmlformats.org/officeDocument/2006/relationships/image" Target="../media/image31.svg"/><Relationship Id="rId10" Type="http://schemas.openxmlformats.org/officeDocument/2006/relationships/image" Target="../media/image53.png"/><Relationship Id="rId11" Type="http://schemas.openxmlformats.org/officeDocument/2006/relationships/image" Target="../media/image54.svg"/><Relationship Id="rId12" Type="http://schemas.openxmlformats.org/officeDocument/2006/relationships/image" Target="../media/image55.png"/><Relationship Id="rId13" Type="http://schemas.openxmlformats.org/officeDocument/2006/relationships/image" Target="../media/image56.svg"/><Relationship Id="rId14" Type="http://schemas.openxmlformats.org/officeDocument/2006/relationships/slideLayout" Target="../slideLayouts/slideLayout12.xml"/><Relationship Id="rId1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image" Target="../media/image59.png"/><Relationship Id="rId5" Type="http://schemas.openxmlformats.org/officeDocument/2006/relationships/image" Target="../media/image7.svg"/><Relationship Id="rId6" Type="http://schemas.openxmlformats.org/officeDocument/2006/relationships/image" Target="../media/image60.png"/><Relationship Id="rId7" Type="http://schemas.openxmlformats.org/officeDocument/2006/relationships/image" Target="../media/image61.svg"/><Relationship Id="rId8" Type="http://schemas.openxmlformats.org/officeDocument/2006/relationships/image" Target="../media/image62.png"/><Relationship Id="rId9" Type="http://schemas.openxmlformats.org/officeDocument/2006/relationships/image" Target="../media/image15.svg"/><Relationship Id="rId10" Type="http://schemas.openxmlformats.org/officeDocument/2006/relationships/slideLayout" Target="../slideLayouts/slideLayout12.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51.png"/><Relationship Id="rId3" Type="http://schemas.openxmlformats.org/officeDocument/2006/relationships/image" Target="../media/image9.svg"/><Relationship Id="rId4" Type="http://schemas.openxmlformats.org/officeDocument/2006/relationships/image" Target="../media/image63.png"/><Relationship Id="rId5" Type="http://schemas.openxmlformats.org/officeDocument/2006/relationships/image" Target="../media/image64.svg"/><Relationship Id="rId6" Type="http://schemas.openxmlformats.org/officeDocument/2006/relationships/image" Target="../media/image60.png"/><Relationship Id="rId7" Type="http://schemas.openxmlformats.org/officeDocument/2006/relationships/image" Target="../media/image61.svg"/><Relationship Id="rId8" Type="http://schemas.openxmlformats.org/officeDocument/2006/relationships/image" Target="../media/image65.png"/><Relationship Id="rId9" Type="http://schemas.openxmlformats.org/officeDocument/2006/relationships/image" Target="../media/image66.svg"/><Relationship Id="rId10" Type="http://schemas.openxmlformats.org/officeDocument/2006/relationships/slideLayout" Target="../slideLayouts/slideLayout12.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67.jpeg"/><Relationship Id="rId3" Type="http://schemas.openxmlformats.org/officeDocument/2006/relationships/tags" Target="../tags/tag31.xml"/><Relationship Id="rId4" Type="http://schemas.openxmlformats.org/officeDocument/2006/relationships/tags" Target="../tags/tag32.xml"/><Relationship Id="rId5" Type="http://schemas.openxmlformats.org/officeDocument/2006/relationships/tags" Target="../tags/tag33.xml"/><Relationship Id="rId6" Type="http://schemas.openxmlformats.org/officeDocument/2006/relationships/image" Target="../media/image68.png"/><Relationship Id="rId7" Type="http://schemas.openxmlformats.org/officeDocument/2006/relationships/image" Target="../media/image19.svg"/><Relationship Id="rId8" Type="http://schemas.openxmlformats.org/officeDocument/2006/relationships/tags" Target="../tags/tag34.xml"/><Relationship Id="rId9" Type="http://schemas.openxmlformats.org/officeDocument/2006/relationships/tags" Target="../tags/tag35.xml"/><Relationship Id="rId10" Type="http://schemas.openxmlformats.org/officeDocument/2006/relationships/tags" Target="../tags/tag36.xml"/><Relationship Id="rId11" Type="http://schemas.openxmlformats.org/officeDocument/2006/relationships/tags" Target="../tags/tag37.xml"/><Relationship Id="rId12" Type="http://schemas.openxmlformats.org/officeDocument/2006/relationships/tags" Target="../tags/tag38.xml"/><Relationship Id="rId13" Type="http://schemas.openxmlformats.org/officeDocument/2006/relationships/tags" Target="../tags/tag39.xml"/><Relationship Id="rId14" Type="http://schemas.openxmlformats.org/officeDocument/2006/relationships/image" Target="../media/image43.png"/><Relationship Id="rId15" Type="http://schemas.openxmlformats.org/officeDocument/2006/relationships/image" Target="../media/image21.svg"/><Relationship Id="rId16" Type="http://schemas.openxmlformats.org/officeDocument/2006/relationships/tags" Target="../tags/tag40.xml"/><Relationship Id="rId17" Type="http://schemas.openxmlformats.org/officeDocument/2006/relationships/tags" Target="../tags/tag41.xml"/><Relationship Id="rId18" Type="http://schemas.openxmlformats.org/officeDocument/2006/relationships/tags" Target="../tags/tag42.xml"/><Relationship Id="rId19" Type="http://schemas.openxmlformats.org/officeDocument/2006/relationships/tags" Target="../tags/tag43.xml"/><Relationship Id="rId20" Type="http://schemas.openxmlformats.org/officeDocument/2006/relationships/tags" Target="../tags/tag44.xml"/><Relationship Id="rId21" Type="http://schemas.openxmlformats.org/officeDocument/2006/relationships/tags" Target="../tags/tag45.xml"/><Relationship Id="rId22" Type="http://schemas.openxmlformats.org/officeDocument/2006/relationships/image" Target="../media/image69.png"/><Relationship Id="rId23" Type="http://schemas.openxmlformats.org/officeDocument/2006/relationships/image" Target="../media/image70.svg"/><Relationship Id="rId24" Type="http://schemas.openxmlformats.org/officeDocument/2006/relationships/tags" Target="../tags/tag46.xml"/><Relationship Id="rId25" Type="http://schemas.openxmlformats.org/officeDocument/2006/relationships/tags" Target="../tags/tag47.xml"/><Relationship Id="rId26" Type="http://schemas.openxmlformats.org/officeDocument/2006/relationships/tags" Target="../tags/tag48.xml"/><Relationship Id="rId27" Type="http://schemas.openxmlformats.org/officeDocument/2006/relationships/tags" Target="../tags/tag49.xml"/><Relationship Id="rId28" Type="http://schemas.openxmlformats.org/officeDocument/2006/relationships/tags" Target="../tags/tag50.xml"/><Relationship Id="rId29" Type="http://schemas.openxmlformats.org/officeDocument/2006/relationships/tags" Target="../tags/tag51.xml"/><Relationship Id="rId30" Type="http://schemas.openxmlformats.org/officeDocument/2006/relationships/image" Target="../media/image71.png"/><Relationship Id="rId31" Type="http://schemas.openxmlformats.org/officeDocument/2006/relationships/image" Target="../media/image72.svg"/><Relationship Id="rId32" Type="http://schemas.openxmlformats.org/officeDocument/2006/relationships/tags" Target="../tags/tag52.xml"/><Relationship Id="rId33" Type="http://schemas.openxmlformats.org/officeDocument/2006/relationships/tags" Target="../tags/tag53.xml"/><Relationship Id="rId34" Type="http://schemas.openxmlformats.org/officeDocument/2006/relationships/tags" Target="../tags/tag54.xml"/><Relationship Id="rId35" Type="http://schemas.openxmlformats.org/officeDocument/2006/relationships/slideLayout" Target="../slideLayouts/slideLayout12.xml"/><Relationship Id="rId3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62.png"/><Relationship Id="rId3" Type="http://schemas.openxmlformats.org/officeDocument/2006/relationships/image" Target="../media/image15.svg"/><Relationship Id="rId4" Type="http://schemas.openxmlformats.org/officeDocument/2006/relationships/image" Target="../media/image73.png"/><Relationship Id="rId5" Type="http://schemas.openxmlformats.org/officeDocument/2006/relationships/image" Target="../media/image74.svg"/><Relationship Id="rId6" Type="http://schemas.openxmlformats.org/officeDocument/2006/relationships/image" Target="../media/image75.png"/><Relationship Id="rId7" Type="http://schemas.openxmlformats.org/officeDocument/2006/relationships/image" Target="../media/image76.svg"/><Relationship Id="rId8" Type="http://schemas.openxmlformats.org/officeDocument/2006/relationships/slideLayout" Target="../slideLayouts/slideLayout12.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77.jpeg"/><Relationship Id="rId3" Type="http://schemas.openxmlformats.org/officeDocument/2006/relationships/image" Target="../media/image78.jpeg"/><Relationship Id="rId4" Type="http://schemas.openxmlformats.org/officeDocument/2006/relationships/image" Target="../media/image79.jpeg"/><Relationship Id="rId5" Type="http://schemas.openxmlformats.org/officeDocument/2006/relationships/slideLayout" Target="../slideLayouts/slideLayout1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80.png"/><Relationship Id="rId3" Type="http://schemas.openxmlformats.org/officeDocument/2006/relationships/image" Target="../media/image81.svg"/><Relationship Id="rId4" Type="http://schemas.openxmlformats.org/officeDocument/2006/relationships/image" Target="../media/image82.png"/><Relationship Id="rId5" Type="http://schemas.openxmlformats.org/officeDocument/2006/relationships/image" Target="../media/image83.svg"/><Relationship Id="rId6" Type="http://schemas.openxmlformats.org/officeDocument/2006/relationships/image" Target="../media/image84.png"/><Relationship Id="rId7" Type="http://schemas.openxmlformats.org/officeDocument/2006/relationships/image" Target="../media/image85.svg"/><Relationship Id="rId8" Type="http://schemas.openxmlformats.org/officeDocument/2006/relationships/slideLayout" Target="../slideLayouts/slideLayout12.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86.jpeg"/><Relationship Id="rId2" Type="http://schemas.openxmlformats.org/officeDocument/2006/relationships/slideLayout" Target="../slideLayouts/slideLayout1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2540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中国农业绿色转型监测大屏</a:t>
            </a:r>
            <a:endParaRPr lang="en-US" sz="1100"/>
          </a:p>
        </p:txBody>
      </p:sp>
      <p:sp>
        <p:nvSpPr>
          <p:cNvPr id="4" name="AutoShape 4"/>
          <p:cNvSpPr/>
          <p:nvPr/>
        </p:nvSpPr>
        <p:spPr>
          <a:xfrm>
            <a:off x="762000" y="3937000"/>
            <a:ext cx="1270000" cy="508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431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项目汇报</a:t>
            </a:r>
            <a:endParaRPr lang="en-US" sz="1100"/>
          </a:p>
        </p:txBody>
      </p:sp>
      <p:sp>
        <p:nvSpPr>
          <p:cNvPr id="6" name="AutoShape 6"/>
          <p:cNvSpPr/>
          <p:nvPr/>
        </p:nvSpPr>
        <p:spPr>
          <a:xfrm>
            <a:off x="762000" y="5588000"/>
            <a:ext cx="10668000" cy="762000"/>
          </a:xfrm>
          <a:prstGeom prst="roundRect">
            <a:avLst>
              <a:gd name="adj" fmla="val 0"/>
            </a:avLst>
          </a:prstGeom>
          <a:solidFill>
            <a:srgbClr val="000000">
              <a:alpha val="2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57404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endParaRPr lang="en-US" sz="1100"/>
          </a:p>
        </p:txBody>
      </p:sp>
      <p:cxnSp>
        <p:nvCxnSpPr>
          <p:cNvPr id="8" name="Connector 8"/>
          <p:cNvCxnSpPr/>
          <p:nvPr/>
        </p:nvCxnSpPr>
        <p:spPr>
          <a:xfrm rot="5285450">
            <a:off x="5905500" y="5962756"/>
            <a:ext cx="381000" cy="12700"/>
          </a:xfrm>
          <a:prstGeom prst="straightConnector1">
            <a:avLst/>
          </a:prstGeom>
          <a:solidFill>
            <a:srgbClr val="DEE0E3">
              <a:alpha val="100000"/>
            </a:srgbClr>
          </a:solidFill>
          <a:ln w="12700" cap="flat" cmpd="sng">
            <a:solidFill>
              <a:srgbClr val="FFFFFF">
                <a:alpha val="40000"/>
              </a:srgbClr>
            </a:solidFill>
            <a:prstDash val="solid"/>
            <a:round/>
            <a:headEnd type="none" w="med" len="med"/>
            <a:tailEnd type="none" w="med" len="med"/>
          </a:ln>
        </p:spPr>
      </p:cxnSp>
      <p:sp>
        <p:nvSpPr>
          <p:cNvPr id="9" name="AutoShape 9"/>
          <p:cNvSpPr/>
          <p:nvPr/>
        </p:nvSpPr>
        <p:spPr>
          <a:xfrm>
            <a:off x="6350000" y="57404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2026年6月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目 录</a:t>
            </a:r>
            <a:endParaRPr lang="en-US" sz="1100"/>
          </a:p>
        </p:txBody>
      </p:sp>
      <p:sp>
        <p:nvSpPr>
          <p:cNvPr id="4" name="AutoShape 4"/>
          <p:cNvSpPr/>
          <p:nvPr/>
        </p:nvSpPr>
        <p:spPr>
          <a:xfrm>
            <a:off x="762000" y="1905000"/>
            <a:ext cx="3429000" cy="2095500"/>
          </a:xfrm>
          <a:prstGeom prst="roundRect">
            <a:avLst>
              <a:gd name="adj" fmla="val 0"/>
            </a:avLst>
          </a:prstGeom>
          <a:solidFill>
            <a:srgbClr val="FFFFFF">
              <a:alpha val="60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20955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095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cxnSp>
        <p:nvCxnSpPr>
          <p:cNvPr id="7" name="Connector 7"/>
          <p:cNvCxnSpPr/>
          <p:nvPr/>
        </p:nvCxnSpPr>
        <p:spPr>
          <a:xfrm rot="-14946">
            <a:off x="1016014" y="2787650"/>
            <a:ext cx="2921000" cy="12700"/>
          </a:xfrm>
          <a:prstGeom prst="straightConnector1">
            <a:avLst/>
          </a:prstGeom>
          <a:solidFill>
            <a:srgbClr val="DEE0E3">
              <a:alpha val="100000"/>
            </a:srgbClr>
          </a:solidFill>
          <a:ln w="12700" cap="flat" cmpd="sng">
            <a:solidFill>
              <a:srgbClr val="556B2F">
                <a:alpha val="30000"/>
              </a:srgbClr>
            </a:solidFill>
            <a:prstDash val="dash"/>
            <a:round/>
            <a:headEnd type="none" w="med" len="med"/>
            <a:tailEnd type="none" w="med" len="med"/>
          </a:ln>
        </p:spPr>
      </p:cxnSp>
      <p:sp>
        <p:nvSpPr>
          <p:cNvPr id="8" name="AutoShape 8"/>
          <p:cNvSpPr/>
          <p:nvPr/>
        </p:nvSpPr>
        <p:spPr>
          <a:xfrm>
            <a:off x="1016000" y="2984500"/>
            <a:ext cx="292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项目概况</a:t>
            </a:r>
            <a:endParaRPr lang="en-US" sz="1100"/>
          </a:p>
          <a:p>
            <a:pPr marL="0" indent="0" algn="l">
              <a:lnSpc>
                <a:spcPct val="108000"/>
              </a:lnSpc>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介绍化肥减量增效的政策背景、核心目标与14大类数据来源，为后续内容奠定基础。</a:t>
            </a:r>
            <a:endPar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4381500" y="1905000"/>
            <a:ext cx="3429000" cy="2095500"/>
          </a:xfrm>
          <a:prstGeom prst="roundRect">
            <a:avLst>
              <a:gd name="adj" fmla="val 0"/>
            </a:avLst>
          </a:prstGeom>
          <a:solidFill>
            <a:srgbClr val="FFFFFF">
              <a:alpha val="60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381500" y="1905000"/>
            <a:ext cx="76200" cy="20955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635500" y="2095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cxnSp>
        <p:nvCxnSpPr>
          <p:cNvPr id="12" name="Connector 12"/>
          <p:cNvCxnSpPr/>
          <p:nvPr/>
        </p:nvCxnSpPr>
        <p:spPr>
          <a:xfrm rot="-14946">
            <a:off x="4635514" y="2787650"/>
            <a:ext cx="2921000" cy="12700"/>
          </a:xfrm>
          <a:prstGeom prst="straightConnector1">
            <a:avLst/>
          </a:prstGeom>
          <a:solidFill>
            <a:srgbClr val="DEE0E3">
              <a:alpha val="100000"/>
            </a:srgbClr>
          </a:solidFill>
          <a:ln w="12700" cap="flat" cmpd="sng">
            <a:solidFill>
              <a:srgbClr val="556B2F">
                <a:alpha val="30000"/>
              </a:srgbClr>
            </a:solidFill>
            <a:prstDash val="dash"/>
            <a:round/>
            <a:headEnd type="none" w="med" len="med"/>
            <a:tailEnd type="none" w="med" len="med"/>
          </a:ln>
        </p:spPr>
      </p:cxnSp>
      <p:sp>
        <p:nvSpPr>
          <p:cNvPr id="13" name="AutoShape 13"/>
          <p:cNvSpPr/>
          <p:nvPr/>
        </p:nvSpPr>
        <p:spPr>
          <a:xfrm>
            <a:off x="4635500" y="2984500"/>
            <a:ext cx="292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设计思路与关键技术</a:t>
            </a:r>
            <a:endParaRPr lang="en-US" sz="1100"/>
          </a:p>
          <a:p>
            <a:pPr marL="0" indent="0" algn="l">
              <a:lnSpc>
                <a:spcPct val="108000"/>
              </a:lnSpc>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解析系统分层架构，阐述Node.js+MySQL+Vue 3全栈技术选型，以及响应度计算等关键算法逻辑。</a:t>
            </a:r>
            <a:endPar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8001000" y="1905000"/>
            <a:ext cx="3429000" cy="2095500"/>
          </a:xfrm>
          <a:prstGeom prst="roundRect">
            <a:avLst>
              <a:gd name="adj" fmla="val 0"/>
            </a:avLst>
          </a:prstGeom>
          <a:solidFill>
            <a:srgbClr val="FFFFFF">
              <a:alpha val="60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8001000" y="1905000"/>
            <a:ext cx="76200" cy="20955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255000" y="20955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cxnSp>
        <p:nvCxnSpPr>
          <p:cNvPr id="17" name="Connector 17"/>
          <p:cNvCxnSpPr/>
          <p:nvPr/>
        </p:nvCxnSpPr>
        <p:spPr>
          <a:xfrm rot="-14946">
            <a:off x="8255014" y="2787650"/>
            <a:ext cx="2921000" cy="12700"/>
          </a:xfrm>
          <a:prstGeom prst="straightConnector1">
            <a:avLst/>
          </a:prstGeom>
          <a:solidFill>
            <a:srgbClr val="DEE0E3">
              <a:alpha val="100000"/>
            </a:srgbClr>
          </a:solidFill>
          <a:ln w="12700" cap="flat" cmpd="sng">
            <a:solidFill>
              <a:srgbClr val="556B2F">
                <a:alpha val="30000"/>
              </a:srgbClr>
            </a:solidFill>
            <a:prstDash val="dash"/>
            <a:round/>
            <a:headEnd type="none" w="med" len="med"/>
            <a:tailEnd type="none" w="med" len="med"/>
          </a:ln>
        </p:spPr>
      </p:cxnSp>
      <p:sp>
        <p:nvSpPr>
          <p:cNvPr id="18" name="AutoShape 18"/>
          <p:cNvSpPr/>
          <p:nvPr/>
        </p:nvSpPr>
        <p:spPr>
          <a:xfrm>
            <a:off x="8255000" y="2984500"/>
            <a:ext cx="292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项目特色及成果展示</a:t>
            </a:r>
            <a:endParaRPr lang="en-US" sz="1100"/>
          </a:p>
          <a:p>
            <a:pPr marL="0" indent="0" algn="l">
              <a:lnSpc>
                <a:spcPct val="108000"/>
              </a:lnSpc>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聚焦六大功能模块，直观呈现投入减量、产出保障、替代机制、经济响应、效率评估与促进建议的核心成果。</a:t>
            </a:r>
            <a:endPar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762000" y="4445000"/>
            <a:ext cx="5232400" cy="1778000"/>
          </a:xfrm>
          <a:prstGeom prst="roundRect">
            <a:avLst>
              <a:gd name="adj" fmla="val 0"/>
            </a:avLst>
          </a:prstGeom>
          <a:solidFill>
            <a:srgbClr val="FFFFFF">
              <a:alpha val="60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762000" y="4445000"/>
            <a:ext cx="76200" cy="17780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1016000" y="45720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cxnSp>
        <p:nvCxnSpPr>
          <p:cNvPr id="22" name="Connector 22"/>
          <p:cNvCxnSpPr/>
          <p:nvPr/>
        </p:nvCxnSpPr>
        <p:spPr>
          <a:xfrm rot="-12277">
            <a:off x="2159011" y="4629150"/>
            <a:ext cx="3556000" cy="12700"/>
          </a:xfrm>
          <a:prstGeom prst="straightConnector1">
            <a:avLst/>
          </a:prstGeom>
          <a:solidFill>
            <a:srgbClr val="DEE0E3">
              <a:alpha val="100000"/>
            </a:srgbClr>
          </a:solidFill>
          <a:ln w="12700" cap="flat" cmpd="sng">
            <a:solidFill>
              <a:srgbClr val="556B2F">
                <a:alpha val="30000"/>
              </a:srgbClr>
            </a:solidFill>
            <a:prstDash val="dash"/>
            <a:round/>
            <a:headEnd type="none" w="med" len="med"/>
            <a:tailEnd type="none" w="med" len="med"/>
          </a:ln>
        </p:spPr>
      </p:cxnSp>
      <p:sp>
        <p:nvSpPr>
          <p:cNvPr id="23" name="AutoShape 23"/>
          <p:cNvSpPr/>
          <p:nvPr/>
        </p:nvSpPr>
        <p:spPr>
          <a:xfrm>
            <a:off x="1016000" y="5334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团队成员及研究基础</a:t>
            </a:r>
            <a:endParaRPr lang="en-US" sz="1100"/>
          </a:p>
          <a:p>
            <a:pPr marL="0" indent="0" algn="l">
              <a:lnSpc>
                <a:spcPct val="108000"/>
              </a:lnSpc>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介绍团队的专业分工与协作模式，梳理项目依托的数据基础、技术积累与领域认知支撑。</a:t>
            </a:r>
            <a:endPar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6223000" y="4445000"/>
            <a:ext cx="5232400" cy="1778000"/>
          </a:xfrm>
          <a:prstGeom prst="roundRect">
            <a:avLst>
              <a:gd name="adj" fmla="val 0"/>
            </a:avLst>
          </a:prstGeom>
          <a:solidFill>
            <a:srgbClr val="FFFFFF">
              <a:alpha val="60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6223000" y="4445000"/>
            <a:ext cx="76200" cy="17780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477000" y="4572000"/>
            <a:ext cx="101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cxnSp>
        <p:nvCxnSpPr>
          <p:cNvPr id="27" name="Connector 27"/>
          <p:cNvCxnSpPr/>
          <p:nvPr/>
        </p:nvCxnSpPr>
        <p:spPr>
          <a:xfrm rot="-12277">
            <a:off x="7620011" y="4629150"/>
            <a:ext cx="3556000" cy="12700"/>
          </a:xfrm>
          <a:prstGeom prst="straightConnector1">
            <a:avLst/>
          </a:prstGeom>
          <a:solidFill>
            <a:srgbClr val="DEE0E3">
              <a:alpha val="100000"/>
            </a:srgbClr>
          </a:solidFill>
          <a:ln w="12700" cap="flat" cmpd="sng">
            <a:solidFill>
              <a:srgbClr val="556B2F">
                <a:alpha val="30000"/>
              </a:srgbClr>
            </a:solidFill>
            <a:prstDash val="dash"/>
            <a:round/>
            <a:headEnd type="none" w="med" len="med"/>
            <a:tailEnd type="none" w="med" len="med"/>
          </a:ln>
        </p:spPr>
      </p:cxnSp>
      <p:sp>
        <p:nvSpPr>
          <p:cNvPr id="28" name="AutoShape 28"/>
          <p:cNvSpPr/>
          <p:nvPr/>
        </p:nvSpPr>
        <p:spPr>
          <a:xfrm>
            <a:off x="6477000" y="5334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实际应用与未来展望</a:t>
            </a:r>
            <a:endParaRPr lang="en-US" sz="1100"/>
          </a:p>
          <a:p>
            <a:pPr marL="0" indent="0" algn="l">
              <a:lnSpc>
                <a:spcPct val="108000"/>
              </a:lnSpc>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探索数据大屏在农业管理决策、科研教学、公众科普中的实际应用场景，展望技术迭代与功能拓展方向。</a:t>
            </a:r>
            <a:endPar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286000"/>
            <a:ext cx="12192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556B2F">
                    <a:alpha val="2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4" name="AutoShape 4"/>
          <p:cNvSpPr/>
          <p:nvPr/>
        </p:nvSpPr>
        <p:spPr>
          <a:xfrm>
            <a:off x="0" y="4318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项目概况</a:t>
            </a:r>
            <a:endParaRPr lang="en-US" sz="1100"/>
          </a:p>
        </p:txBody>
      </p:sp>
      <p:cxnSp>
        <p:nvCxnSpPr>
          <p:cNvPr id="5" name="Connector 5"/>
          <p:cNvCxnSpPr/>
          <p:nvPr/>
        </p:nvCxnSpPr>
        <p:spPr>
          <a:xfrm rot="-28647">
            <a:off x="5334026" y="5581650"/>
            <a:ext cx="1524000" cy="12700"/>
          </a:xfrm>
          <a:prstGeom prst="straightConnector1">
            <a:avLst/>
          </a:prstGeom>
          <a:solidFill>
            <a:srgbClr val="DEE0E3">
              <a:alpha val="100000"/>
            </a:srgbClr>
          </a:solidFill>
          <a:ln w="25400" cap="flat" cmpd="sng">
            <a:solidFill>
              <a:srgbClr val="556B2F">
                <a:alpha val="100000"/>
              </a:srgbClr>
            </a:solidFill>
            <a:prstDash val="solid"/>
            <a:round/>
            <a:headEnd type="none" w="lg" len="lg"/>
            <a:tailEnd type="none" w="lg" len="lg"/>
          </a:ln>
        </p:spPr>
      </p:cxnSp>
      <p:sp>
        <p:nvSpPr>
          <p:cNvPr id="6" name="AutoShape 6"/>
          <p:cNvSpPr/>
          <p:nvPr/>
        </p:nvSpPr>
        <p:spPr>
          <a:xfrm>
            <a:off x="0" y="5842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600" b="0" i="0" u="none" strike="noStrike">
                <a:solidFill>
                  <a:srgbClr val="333333">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 OVERVIEW</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a:t>
            </a:r>
            <a:endParaRPr lang="en-US" sz="1100"/>
          </a:p>
        </p:txBody>
      </p:sp>
      <p:pic>
        <p:nvPicPr>
          <p:cNvPr id="4" name="Picture 4"/>
          <p:cNvPicPr>
            <a:picLocks noChangeAspect="1"/>
          </p:cNvPicPr>
          <p:nvPr/>
        </p:nvPicPr>
        <p:blipFill>
          <a:blip r:embed="rId2"/>
          <a:srcRect l="7712" r="7712"/>
          <a:stretch>
            <a:fillRect/>
          </a:stretch>
        </p:blipFill>
        <p:spPr>
          <a:xfrm>
            <a:off x="762000" y="1778000"/>
            <a:ext cx="4572000" cy="3048000"/>
          </a:xfrm>
          <a:prstGeom prst="rect">
            <a:avLst/>
          </a:prstGeom>
          <a:noFill/>
          <a:ln w="25400" cap="flat" cmpd="sng">
            <a:solidFill>
              <a:srgbClr val="556B2F">
                <a:alpha val="40000"/>
              </a:srgbClr>
            </a:solidFill>
            <a:prstDash val="solid"/>
            <a:round/>
          </a:ln>
        </p:spPr>
      </p:pic>
      <p:sp>
        <p:nvSpPr>
          <p:cNvPr id="5" name="AutoShape 5"/>
          <p:cNvSpPr/>
          <p:nvPr/>
        </p:nvSpPr>
        <p:spPr>
          <a:xfrm>
            <a:off x="762000" y="52070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以2024年中央一号文件"推进化肥农药减量增效"为政策导向，基于国家统计局分省年度数据，构建覆盖14大类指标、12,284条记录的全维度监测数据底座。</a:t>
            </a:r>
            <a:endParaRPr lang="en-US" sz="1100"/>
          </a:p>
        </p:txBody>
      </p:sp>
      <p:cxnSp>
        <p:nvCxnSpPr>
          <p:cNvPr id="6" name="Connector 6"/>
          <p:cNvCxnSpPr/>
          <p:nvPr/>
        </p:nvCxnSpPr>
        <p:spPr>
          <a:xfrm rot="5389889">
            <a:off x="3556000" y="3930659"/>
            <a:ext cx="4318000" cy="12700"/>
          </a:xfrm>
          <a:prstGeom prst="straightConnector1">
            <a:avLst/>
          </a:prstGeom>
          <a:solidFill>
            <a:srgbClr val="DEE0E3">
              <a:alpha val="100000"/>
            </a:srgbClr>
          </a:solidFill>
          <a:ln w="12700" cap="flat" cmpd="sng">
            <a:solidFill>
              <a:srgbClr val="556B2F">
                <a:alpha val="20000"/>
              </a:srgbClr>
            </a:solidFill>
            <a:prstDash val="dash"/>
            <a:round/>
            <a:headEnd type="none" w="med" len="med"/>
            <a:tailEnd type="none" w="med" len="med"/>
          </a:ln>
        </p:spPr>
      </p:cxnSp>
      <p:sp>
        <p:nvSpPr>
          <p:cNvPr id="7" name="AutoShape 7"/>
          <p:cNvSpPr/>
          <p:nvPr/>
        </p:nvSpPr>
        <p:spPr>
          <a:xfrm>
            <a:off x="5842000" y="1778000"/>
            <a:ext cx="76200" cy="12065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096000" y="1778000"/>
            <a:ext cx="5334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01 / 核心需求：化肥减量增效可视化监测</a:t>
            </a:r>
            <a:endParaRPr lang="en-US" sz="1100"/>
          </a:p>
          <a:p>
            <a:pPr marL="0" indent="0" algn="l">
              <a:lnSpc>
                <a:spcPct val="117000"/>
              </a:lnSpc>
            </a:pPr>
            <a:r>
              <a:rPr lang="en-US" sz="1400" b="0"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聚焦化肥减量增效国家战略，解决传统农业数据展示维度单一、缺乏政策响应评估工具的问题，将复杂的多维农业数据转化为直观的可视化决策支持系统。</a:t>
            </a:r>
            <a:endParaRPr lang="en-US" sz="1400" b="0"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5842000" y="3302000"/>
            <a:ext cx="76200" cy="12065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096000" y="3302000"/>
            <a:ext cx="5334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02 / 数据基础：国家统计局权威数据</a:t>
            </a:r>
            <a:endParaRPr lang="en-US" sz="1100"/>
          </a:p>
          <a:p>
            <a:pPr marL="0" indent="0" algn="l">
              <a:lnSpc>
                <a:spcPct val="117000"/>
              </a:lnSpc>
            </a:pPr>
            <a:r>
              <a:rPr lang="en-US" sz="1400" b="0"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深度整合国家统计局公开发布的14大类139个CSV文件，涵盖化肥施用、粮食产量、农业机械、农村经济等核心领域，覆盖31个省级行政区2016-2024年数据。</a:t>
            </a:r>
            <a:endParaRPr lang="en-US" sz="1400" b="0"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5842000" y="4826000"/>
            <a:ext cx="76200" cy="12065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096000" y="4826000"/>
            <a:ext cx="5334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03 / 项目目标：构建农业绿色转型监测大屏</a:t>
            </a:r>
            <a:endParaRPr lang="en-US" sz="1100"/>
          </a:p>
          <a:p>
            <a:pPr marL="0" indent="0" algn="l">
              <a:lnSpc>
                <a:spcPct val="117000"/>
              </a:lnSpc>
            </a:pPr>
            <a:r>
              <a:rPr lang="en-US" sz="1400" b="0"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构建6大功能模块的交互式可视化大屏，包括投入减量响应度、产出保障响应度、替代机制、经济/效率响应度及促进建议，服务农业政策制定与绿色转型评估。</a:t>
            </a:r>
            <a:endParaRPr lang="en-US" sz="1400" b="0"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项目目标</a:t>
            </a:r>
            <a:endParaRPr lang="en-US" sz="1100"/>
          </a:p>
        </p:txBody>
      </p:sp>
      <p:sp>
        <p:nvSpPr>
          <p:cNvPr id="4" name="AutoShape 4"/>
          <p:cNvSpPr/>
          <p:nvPr/>
        </p:nvSpPr>
        <p:spPr>
          <a:xfrm>
            <a:off x="762000" y="1397000"/>
            <a:ext cx="10668000" cy="25400"/>
          </a:xfrm>
          <a:prstGeom prst="roundRect">
            <a:avLst>
              <a:gd name="adj" fmla="val 0"/>
            </a:avLst>
          </a:prstGeom>
          <a:solidFill>
            <a:srgbClr val="556B2F">
              <a:alpha val="4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3429000" cy="3302000"/>
          </a:xfrm>
          <a:prstGeom prst="roundRect">
            <a:avLst>
              <a:gd name="adj" fmla="val 0"/>
            </a:avLst>
          </a:prstGeom>
          <a:solidFill>
            <a:srgbClr val="FFFFFF">
              <a:alpha val="65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2032000"/>
            <a:ext cx="3429000" cy="508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349500"/>
            <a:ext cx="457200" cy="457200"/>
          </a:xfrm>
          <a:prstGeom prst="rect">
            <a:avLst/>
          </a:prstGeom>
        </p:spPr>
      </p:pic>
      <p:sp>
        <p:nvSpPr>
          <p:cNvPr id="8" name="AutoShape 8"/>
          <p:cNvSpPr/>
          <p:nvPr/>
        </p:nvSpPr>
        <p:spPr>
          <a:xfrm>
            <a:off x="1587500" y="23495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投入减量监测</a:t>
            </a:r>
            <a:endParaRPr lang="en-US" sz="1100"/>
          </a:p>
        </p:txBody>
      </p:sp>
      <p:cxnSp>
        <p:nvCxnSpPr>
          <p:cNvPr id="9" name="Connector 9"/>
          <p:cNvCxnSpPr/>
          <p:nvPr/>
        </p:nvCxnSpPr>
        <p:spPr>
          <a:xfrm rot="-14946">
            <a:off x="1016014" y="3041650"/>
            <a:ext cx="2921000" cy="12700"/>
          </a:xfrm>
          <a:prstGeom prst="straightConnector1">
            <a:avLst/>
          </a:prstGeom>
          <a:solidFill>
            <a:srgbClr val="DEE0E3">
              <a:alpha val="100000"/>
            </a:srgbClr>
          </a:solidFill>
          <a:ln w="12700" cap="flat" cmpd="sng">
            <a:solidFill>
              <a:srgbClr val="556B2F">
                <a:alpha val="20000"/>
              </a:srgbClr>
            </a:solidFill>
            <a:prstDash val="dash"/>
            <a:round/>
            <a:headEnd type="none" w="med" len="med"/>
            <a:tailEnd type="none" w="med" len="med"/>
          </a:ln>
        </p:spPr>
      </p:cxnSp>
      <p:sp>
        <p:nvSpPr>
          <p:cNvPr id="10" name="AutoShape 10"/>
          <p:cNvSpPr/>
          <p:nvPr/>
        </p:nvSpPr>
        <p:spPr>
          <a:xfrm>
            <a:off x="1016000" y="3302000"/>
            <a:ext cx="2921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基于中国省级地图(响应度分级着色)，直观展示31省化肥减量率与政策响应度空间分布，支持hover交互查询各省减量率、响应度等级与排名。</a:t>
            </a:r>
            <a:endParaRPr lang="en-US" sz="1100"/>
          </a:p>
        </p:txBody>
      </p:sp>
      <p:sp>
        <p:nvSpPr>
          <p:cNvPr id="11" name="AutoShape 11"/>
          <p:cNvSpPr/>
          <p:nvPr/>
        </p:nvSpPr>
        <p:spPr>
          <a:xfrm>
            <a:off x="4381500" y="2032000"/>
            <a:ext cx="3429000" cy="3302000"/>
          </a:xfrm>
          <a:prstGeom prst="roundRect">
            <a:avLst>
              <a:gd name="adj" fmla="val 0"/>
            </a:avLst>
          </a:prstGeom>
          <a:solidFill>
            <a:srgbClr val="FFFFFF">
              <a:alpha val="65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381500" y="2032000"/>
            <a:ext cx="3429000" cy="508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2349500"/>
            <a:ext cx="457200" cy="457200"/>
          </a:xfrm>
          <a:prstGeom prst="rect">
            <a:avLst/>
          </a:prstGeom>
        </p:spPr>
      </p:pic>
      <p:sp>
        <p:nvSpPr>
          <p:cNvPr id="14" name="AutoShape 14"/>
          <p:cNvSpPr/>
          <p:nvPr/>
        </p:nvSpPr>
        <p:spPr>
          <a:xfrm>
            <a:off x="5207000" y="23495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产出保障分析</a:t>
            </a:r>
            <a:endParaRPr lang="en-US" sz="1100"/>
          </a:p>
        </p:txBody>
      </p:sp>
      <p:cxnSp>
        <p:nvCxnSpPr>
          <p:cNvPr id="15" name="Connector 15"/>
          <p:cNvCxnSpPr/>
          <p:nvPr/>
        </p:nvCxnSpPr>
        <p:spPr>
          <a:xfrm rot="-14946">
            <a:off x="4635514" y="3041650"/>
            <a:ext cx="2921000" cy="12700"/>
          </a:xfrm>
          <a:prstGeom prst="straightConnector1">
            <a:avLst/>
          </a:prstGeom>
          <a:solidFill>
            <a:srgbClr val="DEE0E3">
              <a:alpha val="100000"/>
            </a:srgbClr>
          </a:solidFill>
          <a:ln w="12700" cap="flat" cmpd="sng">
            <a:solidFill>
              <a:srgbClr val="556B2F">
                <a:alpha val="20000"/>
              </a:srgbClr>
            </a:solidFill>
            <a:prstDash val="dash"/>
            <a:round/>
            <a:headEnd type="none" w="med" len="med"/>
            <a:tailEnd type="none" w="med" len="med"/>
          </a:ln>
        </p:spPr>
      </p:cxnSp>
      <p:sp>
        <p:nvSpPr>
          <p:cNvPr id="16" name="AutoShape 16"/>
          <p:cNvSpPr/>
          <p:nvPr/>
        </p:nvSpPr>
        <p:spPr>
          <a:xfrm>
            <a:off x="4635500" y="3302000"/>
            <a:ext cx="2921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通过双轴折线图，展示化肥减量与粮食增产的反向趋势关系，识别「减量不减产」的标杆省份与需要关注的风险省份。</a:t>
            </a:r>
            <a:endParaRPr lang="en-US" sz="1100"/>
          </a:p>
        </p:txBody>
      </p:sp>
      <p:sp>
        <p:nvSpPr>
          <p:cNvPr id="17" name="AutoShape 17"/>
          <p:cNvSpPr/>
          <p:nvPr/>
        </p:nvSpPr>
        <p:spPr>
          <a:xfrm>
            <a:off x="8001000" y="2032000"/>
            <a:ext cx="3429000" cy="3302000"/>
          </a:xfrm>
          <a:prstGeom prst="roundRect">
            <a:avLst>
              <a:gd name="adj" fmla="val 0"/>
            </a:avLst>
          </a:prstGeom>
          <a:solidFill>
            <a:srgbClr val="FFFFFF">
              <a:alpha val="65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8001000" y="2032000"/>
            <a:ext cx="3429000" cy="508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2349500"/>
            <a:ext cx="457200" cy="457200"/>
          </a:xfrm>
          <a:prstGeom prst="rect">
            <a:avLst/>
          </a:prstGeom>
        </p:spPr>
      </p:pic>
      <p:sp>
        <p:nvSpPr>
          <p:cNvPr id="20" name="AutoShape 20"/>
          <p:cNvSpPr/>
          <p:nvPr/>
        </p:nvSpPr>
        <p:spPr>
          <a:xfrm>
            <a:off x="8826500" y="23495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综合响应评估</a:t>
            </a:r>
            <a:endParaRPr lang="en-US" sz="1100"/>
          </a:p>
        </p:txBody>
      </p:sp>
      <p:cxnSp>
        <p:nvCxnSpPr>
          <p:cNvPr id="21" name="Connector 21"/>
          <p:cNvCxnSpPr/>
          <p:nvPr/>
        </p:nvCxnSpPr>
        <p:spPr>
          <a:xfrm rot="-14946">
            <a:off x="8255014" y="3041650"/>
            <a:ext cx="2921000" cy="12700"/>
          </a:xfrm>
          <a:prstGeom prst="straightConnector1">
            <a:avLst/>
          </a:prstGeom>
          <a:solidFill>
            <a:srgbClr val="DEE0E3">
              <a:alpha val="100000"/>
            </a:srgbClr>
          </a:solidFill>
          <a:ln w="12700" cap="flat" cmpd="sng">
            <a:solidFill>
              <a:srgbClr val="556B2F">
                <a:alpha val="20000"/>
              </a:srgbClr>
            </a:solidFill>
            <a:prstDash val="dash"/>
            <a:round/>
            <a:headEnd type="none" w="med" len="med"/>
            <a:tailEnd type="none" w="med" len="med"/>
          </a:ln>
        </p:spPr>
      </p:cxnSp>
      <p:sp>
        <p:nvSpPr>
          <p:cNvPr id="22" name="AutoShape 22"/>
          <p:cNvSpPr/>
          <p:nvPr/>
        </p:nvSpPr>
        <p:spPr>
          <a:xfrm>
            <a:off x="8255000" y="3302000"/>
            <a:ext cx="2921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构建涵盖投入、产出、替代、经济、效率5大维度的政策响应评估体系，自动计算31省综合响应度，生成数据驱动的差异化政策建议。</a:t>
            </a:r>
            <a:endParaRPr lang="en-US" sz="1100"/>
          </a:p>
        </p:txBody>
      </p:sp>
      <p:sp>
        <p:nvSpPr>
          <p:cNvPr id="23" name="AutoShape 23"/>
          <p:cNvSpPr/>
          <p:nvPr/>
        </p:nvSpPr>
        <p:spPr>
          <a:xfrm>
            <a:off x="762000" y="5715000"/>
            <a:ext cx="10668000" cy="7620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1016000" y="584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通过六大模块的协同运作，打造数据驱动的农业绿色转型监测引擎，为化肥减量增效政策的精准实施提供科学、直观、可量化的决策支撑。</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数据来源与规模</a:t>
            </a:r>
            <a:endParaRPr lang="en-US" sz="1100"/>
          </a:p>
        </p:txBody>
      </p:sp>
      <p:sp>
        <p:nvSpPr>
          <p:cNvPr id="4" name="AutoShape 4"/>
          <p:cNvSpPr/>
          <p:nvPr/>
        </p:nvSpPr>
        <p:spPr>
          <a:xfrm>
            <a:off x="762000" y="1397000"/>
            <a:ext cx="10668000" cy="25400"/>
          </a:xfrm>
          <a:prstGeom prst="roundRect">
            <a:avLst>
              <a:gd name="adj" fmla="val 0"/>
            </a:avLst>
          </a:prstGeom>
          <a:solidFill>
            <a:srgbClr val="556B2F">
              <a:alpha val="3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3378200" cy="35560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86000"/>
            <a:ext cx="457200" cy="457200"/>
          </a:xfrm>
          <a:prstGeom prst="rect">
            <a:avLst/>
          </a:prstGeom>
        </p:spPr>
      </p:pic>
      <p:sp>
        <p:nvSpPr>
          <p:cNvPr id="7" name="AutoShape 7"/>
          <p:cNvSpPr/>
          <p:nvPr/>
        </p:nvSpPr>
        <p:spPr>
          <a:xfrm>
            <a:off x="1600200" y="2286000"/>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权威数据源</a:t>
            </a:r>
            <a:endParaRPr lang="en-US" sz="1100"/>
          </a:p>
        </p:txBody>
      </p:sp>
      <p:cxnSp>
        <p:nvCxnSpPr>
          <p:cNvPr id="8" name="Connector 8"/>
          <p:cNvCxnSpPr/>
          <p:nvPr/>
        </p:nvCxnSpPr>
        <p:spPr>
          <a:xfrm rot="-15211">
            <a:off x="1016014" y="3041650"/>
            <a:ext cx="28702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9" name="AutoShape 9"/>
          <p:cNvSpPr/>
          <p:nvPr/>
        </p:nvSpPr>
        <p:spPr>
          <a:xfrm>
            <a:off x="1016000" y="3302000"/>
            <a:ext cx="28702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数据全部来源于国家统计局官网公开发布的分省年度数据，统一以标准化CSV格式归档管理。数据结构分为"全国汇总"和"分省明细"两大类，共计139个文件，确保基础数据的公信力与可追溯性。</a:t>
            </a:r>
            <a:endParaRPr lang="en-US" sz="1100"/>
          </a:p>
        </p:txBody>
      </p:sp>
      <p:sp>
        <p:nvSpPr>
          <p:cNvPr id="10" name="AutoShape 10"/>
          <p:cNvSpPr/>
          <p:nvPr/>
        </p:nvSpPr>
        <p:spPr>
          <a:xfrm>
            <a:off x="4394200" y="2032000"/>
            <a:ext cx="3378200" cy="35560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2286000"/>
            <a:ext cx="457200" cy="457200"/>
          </a:xfrm>
          <a:prstGeom prst="rect">
            <a:avLst/>
          </a:prstGeom>
        </p:spPr>
      </p:pic>
      <p:sp>
        <p:nvSpPr>
          <p:cNvPr id="12" name="AutoShape 12"/>
          <p:cNvSpPr/>
          <p:nvPr/>
        </p:nvSpPr>
        <p:spPr>
          <a:xfrm>
            <a:off x="5232400" y="2286000"/>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多维数据覆盖</a:t>
            </a:r>
            <a:endParaRPr lang="en-US" sz="1100"/>
          </a:p>
        </p:txBody>
      </p:sp>
      <p:cxnSp>
        <p:nvCxnSpPr>
          <p:cNvPr id="13" name="Connector 13"/>
          <p:cNvCxnSpPr/>
          <p:nvPr/>
        </p:nvCxnSpPr>
        <p:spPr>
          <a:xfrm rot="-15211">
            <a:off x="4648214" y="3041650"/>
            <a:ext cx="28702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14" name="AutoShape 14"/>
          <p:cNvSpPr/>
          <p:nvPr/>
        </p:nvSpPr>
        <p:spPr>
          <a:xfrm>
            <a:off x="4648200" y="3302000"/>
            <a:ext cx="28702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地理与指标：覆盖全国31个省、自治区、直辖市，涵盖化肥施用（总/N/P/K/复合肥）、粮食产量、播种面积、农业机械、灌溉面积等14大类核心指标。</a:t>
            </a:r>
            <a:endParaRPr lang="en-US" sz="1100"/>
          </a:p>
          <a:p>
            <a:pPr marL="0" indent="0" algn="l">
              <a:lnSpc>
                <a:spcPct val="133000"/>
              </a:lnSpc>
            </a:pPr>
            <a:r>
              <a:rPr lang="en-US" sz="14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时间跨度：核心数据覆盖2021-2024年政策窗口期，辅助历史数据可追溯至2016年，形成完整的数据趋势闭环。</a:t>
            </a:r>
            <a:endPar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8026400" y="2032000"/>
            <a:ext cx="3378200" cy="35560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80400" y="2286000"/>
            <a:ext cx="457200" cy="457200"/>
          </a:xfrm>
          <a:prstGeom prst="rect">
            <a:avLst/>
          </a:prstGeom>
        </p:spPr>
      </p:pic>
      <p:sp>
        <p:nvSpPr>
          <p:cNvPr id="17" name="AutoShape 17"/>
          <p:cNvSpPr/>
          <p:nvPr/>
        </p:nvSpPr>
        <p:spPr>
          <a:xfrm>
            <a:off x="8864600" y="2286000"/>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规模化数据资产</a:t>
            </a:r>
            <a:endParaRPr lang="en-US" sz="1100"/>
          </a:p>
        </p:txBody>
      </p:sp>
      <p:cxnSp>
        <p:nvCxnSpPr>
          <p:cNvPr id="18" name="Connector 18"/>
          <p:cNvCxnSpPr/>
          <p:nvPr/>
        </p:nvCxnSpPr>
        <p:spPr>
          <a:xfrm rot="-15211">
            <a:off x="8280414" y="3041650"/>
            <a:ext cx="28702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19" name="AutoShape 19"/>
          <p:cNvSpPr/>
          <p:nvPr/>
        </p:nvSpPr>
        <p:spPr>
          <a:xfrm>
            <a:off x="8280400" y="3302000"/>
            <a:ext cx="28702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核心规模：沉淀有效数据记录12,284行，采用EAV单表设计存储于MySQL数据库，为多维度分析提供充足的高质量样本。</a:t>
            </a:r>
            <a:endParaRPr lang="en-US" sz="1100"/>
          </a:p>
          <a:p>
            <a:pPr marL="0" indent="0" algn="l">
              <a:lnSpc>
                <a:spcPct val="133000"/>
              </a:lnSpc>
            </a:pPr>
            <a:r>
              <a:rPr lang="en-US" sz="14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质量管控：经多重校验清洗，统一省份命名规范，剔除无效值与异常项，保障数据的完整性、一致性与权威性。</a:t>
            </a:r>
            <a:endPar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762000" y="5842000"/>
            <a:ext cx="10668000" cy="635000"/>
          </a:xfrm>
          <a:prstGeom prst="roundRect">
            <a:avLst>
              <a:gd name="adj" fmla="val 0"/>
            </a:avLst>
          </a:prstGeom>
          <a:solidFill>
            <a:srgbClr val="556B2F">
              <a:alpha val="1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52500" y="5943600"/>
            <a:ext cx="10287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基于权威、多维、规模化的数据基座，构建起从国家宏观趋势到省份微观详情的完整农业绿色转型数据洞察体系，为决策提供科学支撑。</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159000"/>
            <a:ext cx="12192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556B2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4" name="AutoShape 4"/>
          <p:cNvSpPr/>
          <p:nvPr/>
        </p:nvSpPr>
        <p:spPr>
          <a:xfrm>
            <a:off x="0" y="419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设计思路与关键技术</a:t>
            </a:r>
            <a:endParaRPr lang="en-US" sz="1100"/>
          </a:p>
        </p:txBody>
      </p:sp>
      <p:sp>
        <p:nvSpPr>
          <p:cNvPr id="5" name="AutoShape 5"/>
          <p:cNvSpPr/>
          <p:nvPr/>
        </p:nvSpPr>
        <p:spPr>
          <a:xfrm>
            <a:off x="5461000" y="5461000"/>
            <a:ext cx="1270000" cy="254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5715000"/>
            <a:ext cx="1219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333333">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DESIGN &amp; TECHNOLOGY</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系统整体设计思路</a:t>
            </a:r>
            <a:endParaRPr lang="en-US" sz="1100"/>
          </a:p>
        </p:txBody>
      </p:sp>
      <p:sp>
        <p:nvSpPr>
          <p:cNvPr id="4" name="AutoShape 4"/>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项目采用"前端Vue 3可视化 + 后端Node.js数据服务 + MySQL关系型数据库"的分层架构，实现数据从导入到展示的全链路高效流转，兼顾工程化与可维护性。</a:t>
            </a:r>
            <a:endParaRPr lang="en-US" sz="1100"/>
          </a:p>
        </p:txBody>
      </p:sp>
      <p:cxnSp>
        <p:nvCxnSpPr>
          <p:cNvPr id="5" name="Connector 5"/>
          <p:cNvCxnSpPr/>
          <p:nvPr/>
        </p:nvCxnSpPr>
        <p:spPr>
          <a:xfrm rot="-4092">
            <a:off x="762004" y="2152650"/>
            <a:ext cx="10668000" cy="12700"/>
          </a:xfrm>
          <a:prstGeom prst="straightConnector1">
            <a:avLst/>
          </a:prstGeom>
          <a:solidFill>
            <a:srgbClr val="DEE0E3">
              <a:alpha val="100000"/>
            </a:srgbClr>
          </a:solidFill>
          <a:ln w="12700" cap="flat" cmpd="sng">
            <a:solidFill>
              <a:srgbClr val="556B2F">
                <a:alpha val="30000"/>
              </a:srgbClr>
            </a:solidFill>
            <a:prstDash val="solid"/>
            <a:round/>
            <a:headEnd type="none" w="med" len="med"/>
            <a:tailEnd type="none" w="med" len="med"/>
          </a:ln>
        </p:spPr>
      </p:cxnSp>
      <p:sp>
        <p:nvSpPr>
          <p:cNvPr id="6" name="AutoShape 6"/>
          <p:cNvSpPr/>
          <p:nvPr/>
        </p:nvSpPr>
        <p:spPr>
          <a:xfrm>
            <a:off x="762000" y="2540000"/>
            <a:ext cx="3429000" cy="2921000"/>
          </a:xfrm>
          <a:prstGeom prst="roundRect">
            <a:avLst>
              <a:gd name="adj" fmla="val 0"/>
            </a:avLst>
          </a:prstGeom>
          <a:solidFill>
            <a:srgbClr val="FFFFFF">
              <a:alpha val="65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794000"/>
            <a:ext cx="406400" cy="406400"/>
          </a:xfrm>
          <a:prstGeom prst="rect">
            <a:avLst/>
          </a:prstGeom>
        </p:spPr>
      </p:pic>
      <p:sp>
        <p:nvSpPr>
          <p:cNvPr id="8" name="AutoShape 8"/>
          <p:cNvSpPr/>
          <p:nvPr/>
        </p:nvSpPr>
        <p:spPr>
          <a:xfrm>
            <a:off x="1524000" y="27940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01 自动化数据导入</a:t>
            </a:r>
            <a:endParaRPr lang="en-US" sz="1100"/>
          </a:p>
        </p:txBody>
      </p:sp>
      <p:cxnSp>
        <p:nvCxnSpPr>
          <p:cNvPr id="9" name="Connector 9"/>
          <p:cNvCxnSpPr/>
          <p:nvPr/>
        </p:nvCxnSpPr>
        <p:spPr>
          <a:xfrm rot="-14946">
            <a:off x="1016014" y="3422650"/>
            <a:ext cx="2921000" cy="12700"/>
          </a:xfrm>
          <a:prstGeom prst="straightConnector1">
            <a:avLst/>
          </a:prstGeom>
          <a:solidFill>
            <a:srgbClr val="DEE0E3">
              <a:alpha val="100000"/>
            </a:srgbClr>
          </a:solidFill>
          <a:ln w="12700" cap="flat" cmpd="sng">
            <a:solidFill>
              <a:srgbClr val="556B2F">
                <a:alpha val="15000"/>
              </a:srgbClr>
            </a:solidFill>
            <a:prstDash val="dash"/>
            <a:round/>
            <a:headEnd type="none" w="med" len="med"/>
            <a:tailEnd type="none" w="med" len="med"/>
          </a:ln>
        </p:spPr>
      </p:cxnSp>
      <p:sp>
        <p:nvSpPr>
          <p:cNvPr id="10" name="AutoShape 10"/>
          <p:cNvSpPr/>
          <p:nvPr/>
        </p:nvSpPr>
        <p:spPr>
          <a:xfrm>
            <a:off x="1016000" y="3683000"/>
            <a:ext cx="2921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全流程自动化处理：以139个原始CSV数据文件为输入，经Node.js脚本解析、省份名称标准化映射，批量写入MySQL数据库，共计12,284条有效记录。</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sz="1100"/>
          </a:p>
        </p:txBody>
      </p:sp>
      <p:sp>
        <p:nvSpPr>
          <p:cNvPr id="11" name="AutoShape 11"/>
          <p:cNvSpPr/>
          <p:nvPr/>
        </p:nvSpPr>
        <p:spPr>
          <a:xfrm>
            <a:off x="4381500" y="2540000"/>
            <a:ext cx="3429000" cy="2921000"/>
          </a:xfrm>
          <a:prstGeom prst="roundRect">
            <a:avLst>
              <a:gd name="adj" fmla="val 0"/>
            </a:avLst>
          </a:prstGeom>
          <a:solidFill>
            <a:srgbClr val="FFFFFF">
              <a:alpha val="65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2794000"/>
            <a:ext cx="406400" cy="406400"/>
          </a:xfrm>
          <a:prstGeom prst="rect">
            <a:avLst/>
          </a:prstGeom>
        </p:spPr>
      </p:pic>
      <p:sp>
        <p:nvSpPr>
          <p:cNvPr id="13" name="AutoShape 13"/>
          <p:cNvSpPr/>
          <p:nvPr/>
        </p:nvSpPr>
        <p:spPr>
          <a:xfrm>
            <a:off x="5143500" y="27940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02 后端API聚合服务</a:t>
            </a:r>
            <a:endParaRPr lang="en-US" sz="1100"/>
          </a:p>
        </p:txBody>
      </p:sp>
      <p:cxnSp>
        <p:nvCxnSpPr>
          <p:cNvPr id="14" name="Connector 14"/>
          <p:cNvCxnSpPr/>
          <p:nvPr/>
        </p:nvCxnSpPr>
        <p:spPr>
          <a:xfrm rot="-14946">
            <a:off x="4635514" y="3422650"/>
            <a:ext cx="2921000" cy="12700"/>
          </a:xfrm>
          <a:prstGeom prst="straightConnector1">
            <a:avLst/>
          </a:prstGeom>
          <a:solidFill>
            <a:srgbClr val="DEE0E3">
              <a:alpha val="100000"/>
            </a:srgbClr>
          </a:solidFill>
          <a:ln w="12700" cap="flat" cmpd="sng">
            <a:solidFill>
              <a:srgbClr val="556B2F">
                <a:alpha val="15000"/>
              </a:srgbClr>
            </a:solidFill>
            <a:prstDash val="dash"/>
            <a:round/>
            <a:headEnd type="none" w="med" len="med"/>
            <a:tailEnd type="none" w="med" len="med"/>
          </a:ln>
        </p:spPr>
      </p:cxnSp>
      <p:sp>
        <p:nvSpPr>
          <p:cNvPr id="15" name="AutoShape 15"/>
          <p:cNvSpPr/>
          <p:nvPr/>
        </p:nvSpPr>
        <p:spPr>
          <a:xfrm>
            <a:off x="4635500" y="3683000"/>
            <a:ext cx="2921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响应度、效率值、区域综合评分等衍生指标，为前端提供零延迟的数据供给。</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sz="1100"/>
          </a:p>
        </p:txBody>
      </p:sp>
      <p:sp>
        <p:nvSpPr>
          <p:cNvPr id="16" name="AutoShape 16"/>
          <p:cNvSpPr/>
          <p:nvPr/>
        </p:nvSpPr>
        <p:spPr>
          <a:xfrm>
            <a:off x="8001000" y="2540000"/>
            <a:ext cx="3429000" cy="2921000"/>
          </a:xfrm>
          <a:prstGeom prst="roundRect">
            <a:avLst>
              <a:gd name="adj" fmla="val 0"/>
            </a:avLst>
          </a:prstGeom>
          <a:solidFill>
            <a:srgbClr val="FFFFFF">
              <a:alpha val="65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2794000"/>
            <a:ext cx="406400" cy="406400"/>
          </a:xfrm>
          <a:prstGeom prst="rect">
            <a:avLst/>
          </a:prstGeom>
        </p:spPr>
      </p:pic>
      <p:sp>
        <p:nvSpPr>
          <p:cNvPr id="18" name="AutoShape 18"/>
          <p:cNvSpPr/>
          <p:nvPr/>
        </p:nvSpPr>
        <p:spPr>
          <a:xfrm>
            <a:off x="8763000" y="27940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03 前端可视化交互层</a:t>
            </a:r>
            <a:endParaRPr lang="en-US" sz="1100"/>
          </a:p>
        </p:txBody>
      </p:sp>
      <p:cxnSp>
        <p:nvCxnSpPr>
          <p:cNvPr id="19" name="Connector 19"/>
          <p:cNvCxnSpPr/>
          <p:nvPr/>
        </p:nvCxnSpPr>
        <p:spPr>
          <a:xfrm rot="-14946">
            <a:off x="8255014" y="3422650"/>
            <a:ext cx="2921000" cy="12700"/>
          </a:xfrm>
          <a:prstGeom prst="straightConnector1">
            <a:avLst/>
          </a:prstGeom>
          <a:solidFill>
            <a:srgbClr val="DEE0E3">
              <a:alpha val="100000"/>
            </a:srgbClr>
          </a:solidFill>
          <a:ln w="12700" cap="flat" cmpd="sng">
            <a:solidFill>
              <a:srgbClr val="556B2F">
                <a:alpha val="15000"/>
              </a:srgbClr>
            </a:solidFill>
            <a:prstDash val="dash"/>
            <a:round/>
            <a:headEnd type="none" w="med" len="med"/>
            <a:tailEnd type="none" w="med" len="med"/>
          </a:ln>
        </p:spPr>
      </p:cxnSp>
      <p:sp>
        <p:nvSpPr>
          <p:cNvPr id="20" name="AutoShape 20"/>
          <p:cNvSpPr/>
          <p:nvPr/>
        </p:nvSpPr>
        <p:spPr>
          <a:xfrm>
            <a:off x="8255000" y="3683000"/>
            <a:ext cx="2921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TypeScript工程化体验：采用Vue 3 Composition API + TypeScript + Vite 5构建工具，集成ECharts 5.5图表引擎，覆盖6大功能模块的交互式数据可视化。</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sz="1100"/>
          </a:p>
        </p:txBody>
      </p:sp>
      <p:sp>
        <p:nvSpPr>
          <p:cNvPr id="21" name="AutoShape 21"/>
          <p:cNvSpPr/>
          <p:nvPr/>
        </p:nvSpPr>
        <p:spPr>
          <a:xfrm>
            <a:off x="762000" y="5778500"/>
            <a:ext cx="10668000" cy="6985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1016000" y="58801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核心优势：分层架构设计确保了系统的低耦合与易维护性，全栈JavaScript/TypeScript技术栈降低了开发与运维成本，MySQL单表EAV设计兼顾灵活性与查询效率。</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889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核心技术栈选型</a:t>
            </a:r>
            <a:endParaRPr lang="en-US" sz="1100"/>
          </a:p>
        </p:txBody>
      </p:sp>
      <p:sp>
        <p:nvSpPr>
          <p:cNvPr id="4" name="AutoShape 4"/>
          <p:cNvSpPr/>
          <p:nvPr>
            <p:custDataLst>
              <p:tags r:id="rId2"/>
            </p:custDataLst>
          </p:nvPr>
        </p:nvSpPr>
        <p:spPr>
          <a:xfrm>
            <a:off x="762000" y="1651000"/>
            <a:ext cx="3429000" cy="2159000"/>
          </a:xfrm>
          <a:prstGeom prst="roundRect">
            <a:avLst>
              <a:gd name="adj" fmla="val 0"/>
            </a:avLst>
          </a:prstGeom>
          <a:solidFill>
            <a:srgbClr val="FFFFFF">
              <a:alpha val="85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custDataLst>
              <p:tags r:id="rId3"/>
            </p:custDataLst>
          </p:nvPr>
        </p:nvPicPr>
        <p:blipFill>
          <a:blip r:embed="rId4"/>
          <a:srcRect t="12996" b="12996"/>
          <a:stretch>
            <a:fillRect/>
          </a:stretch>
        </p:blipFill>
        <p:spPr>
          <a:xfrm>
            <a:off x="952500" y="1841500"/>
            <a:ext cx="1016000" cy="1016000"/>
          </a:xfrm>
          <a:prstGeom prst="rect">
            <a:avLst/>
          </a:prstGeom>
          <a:noFill/>
          <a:ln w="25400" cap="flat" cmpd="sng">
            <a:noFill/>
            <a:prstDash val="solid"/>
            <a:round/>
          </a:ln>
        </p:spPr>
      </p:pic>
      <p:sp>
        <p:nvSpPr>
          <p:cNvPr id="6" name="AutoShape 6"/>
          <p:cNvSpPr/>
          <p:nvPr>
            <p:custDataLst>
              <p:tags r:id="rId5"/>
            </p:custDataLst>
          </p:nvPr>
        </p:nvSpPr>
        <p:spPr>
          <a:xfrm>
            <a:off x="2159000" y="18415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 · Node.js + Express</a:t>
            </a:r>
            <a:endParaRPr lang="en-US" sz="1100"/>
          </a:p>
        </p:txBody>
      </p:sp>
      <p:cxnSp>
        <p:nvCxnSpPr>
          <p:cNvPr id="7" name="Connector 7"/>
          <p:cNvCxnSpPr/>
          <p:nvPr>
            <p:custDataLst>
              <p:tags r:id="rId6"/>
            </p:custDataLst>
          </p:nvPr>
        </p:nvCxnSpPr>
        <p:spPr>
          <a:xfrm rot="-14323">
            <a:off x="952513" y="2978150"/>
            <a:ext cx="3048000" cy="12700"/>
          </a:xfrm>
          <a:prstGeom prst="straightConnector1">
            <a:avLst/>
          </a:prstGeom>
          <a:solidFill>
            <a:srgbClr val="DEE0E3">
              <a:alpha val="100000"/>
            </a:srgbClr>
          </a:solidFill>
          <a:ln w="12700" cap="flat" cmpd="sng">
            <a:solidFill>
              <a:srgbClr val="556B2F">
                <a:alpha val="30000"/>
              </a:srgbClr>
            </a:solidFill>
            <a:prstDash val="dash"/>
            <a:round/>
            <a:headEnd type="none" w="med" len="med"/>
            <a:tailEnd type="none" w="med" len="med"/>
          </a:ln>
        </p:spPr>
      </p:cxnSp>
      <p:sp>
        <p:nvSpPr>
          <p:cNvPr id="8" name="AutoShape 8"/>
          <p:cNvSpPr/>
          <p:nvPr>
            <p:custDataLst>
              <p:tags r:id="rId7"/>
            </p:custDataLst>
          </p:nvPr>
        </p:nvSpPr>
        <p:spPr>
          <a:xfrm>
            <a:off x="952500" y="30734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4B4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基于Node.js的异步非阻塞架构，Express 4.18提供高性能RESTful API服务，mysql2连接池实现高效数据库访问。</a:t>
            </a:r>
            <a:endParaRPr lang="en-US" sz="1100"/>
          </a:p>
        </p:txBody>
      </p:sp>
      <p:sp>
        <p:nvSpPr>
          <p:cNvPr id="9" name="AutoShape 9"/>
          <p:cNvSpPr/>
          <p:nvPr>
            <p:custDataLst>
              <p:tags r:id="rId8"/>
            </p:custDataLst>
          </p:nvPr>
        </p:nvSpPr>
        <p:spPr>
          <a:xfrm>
            <a:off x="4381500" y="1651000"/>
            <a:ext cx="3429000" cy="2159000"/>
          </a:xfrm>
          <a:prstGeom prst="roundRect">
            <a:avLst>
              <a:gd name="adj" fmla="val 0"/>
            </a:avLst>
          </a:prstGeom>
          <a:solidFill>
            <a:srgbClr val="FFFFFF">
              <a:alpha val="85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custDataLst>
              <p:tags r:id="rId9"/>
            </p:custDataLst>
          </p:nvPr>
        </p:nvPicPr>
        <p:blipFill>
          <a:blip r:embed="rId10"/>
          <a:srcRect l="16666" r="16666"/>
          <a:stretch>
            <a:fillRect/>
          </a:stretch>
        </p:blipFill>
        <p:spPr>
          <a:xfrm>
            <a:off x="4572000" y="1841500"/>
            <a:ext cx="1016000" cy="1016000"/>
          </a:xfrm>
          <a:prstGeom prst="rect">
            <a:avLst/>
          </a:prstGeom>
          <a:noFill/>
          <a:ln w="25400" cap="flat" cmpd="sng">
            <a:noFill/>
            <a:prstDash val="solid"/>
            <a:round/>
          </a:ln>
        </p:spPr>
      </p:pic>
      <p:sp>
        <p:nvSpPr>
          <p:cNvPr id="11" name="AutoShape 11"/>
          <p:cNvSpPr/>
          <p:nvPr>
            <p:custDataLst>
              <p:tags r:id="rId11"/>
            </p:custDataLst>
          </p:nvPr>
        </p:nvSpPr>
        <p:spPr>
          <a:xfrm>
            <a:off x="5778500" y="18415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数据库 · MySQL 8.0</a:t>
            </a:r>
            <a:endParaRPr lang="en-US" sz="1100"/>
          </a:p>
        </p:txBody>
      </p:sp>
      <p:cxnSp>
        <p:nvCxnSpPr>
          <p:cNvPr id="12" name="Connector 12"/>
          <p:cNvCxnSpPr/>
          <p:nvPr>
            <p:custDataLst>
              <p:tags r:id="rId12"/>
            </p:custDataLst>
          </p:nvPr>
        </p:nvCxnSpPr>
        <p:spPr>
          <a:xfrm rot="-14323">
            <a:off x="4572013" y="2978150"/>
            <a:ext cx="3048000" cy="12700"/>
          </a:xfrm>
          <a:prstGeom prst="straightConnector1">
            <a:avLst/>
          </a:prstGeom>
          <a:solidFill>
            <a:srgbClr val="DEE0E3">
              <a:alpha val="100000"/>
            </a:srgbClr>
          </a:solidFill>
          <a:ln w="12700" cap="flat" cmpd="sng">
            <a:solidFill>
              <a:srgbClr val="556B2F">
                <a:alpha val="30000"/>
              </a:srgbClr>
            </a:solidFill>
            <a:prstDash val="dash"/>
            <a:round/>
            <a:headEnd type="none" w="med" len="med"/>
            <a:tailEnd type="none" w="med" len="med"/>
          </a:ln>
        </p:spPr>
      </p:cxnSp>
      <p:sp>
        <p:nvSpPr>
          <p:cNvPr id="13" name="AutoShape 13"/>
          <p:cNvSpPr/>
          <p:nvPr>
            <p:custDataLst>
              <p:tags r:id="rId13"/>
            </p:custDataLst>
          </p:nvPr>
        </p:nvSpPr>
        <p:spPr>
          <a:xfrm>
            <a:off x="4572000" y="30734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4B4B"/>
                </a:solidFill>
                <a:latin typeface="Noto Sans SC" panose="020B0200000000000000" charset="-122"/>
                <a:ea typeface="Noto Sans SC" panose="020B0200000000000000" charset="-122"/>
                <a:cs typeface="Noto Sans SC" panose="020B0200000000000000" charset="-122"/>
                <a:sym typeface="Noto Sans SC" panose="020B0200000000000000" charset="-122"/>
              </a:rPr>
              <a:t>单表EAV设计存储12,284条异构指标数据，UNIQUE KEY约束保障数据唯一性，多列索引优化聚合查询性能。</a:t>
            </a:r>
            <a:endParaRPr lang="en-US" sz="1100"/>
          </a:p>
        </p:txBody>
      </p:sp>
      <p:sp>
        <p:nvSpPr>
          <p:cNvPr id="14" name="AutoShape 14"/>
          <p:cNvSpPr/>
          <p:nvPr>
            <p:custDataLst>
              <p:tags r:id="rId14"/>
            </p:custDataLst>
          </p:nvPr>
        </p:nvSpPr>
        <p:spPr>
          <a:xfrm>
            <a:off x="8001000" y="1651000"/>
            <a:ext cx="3429000" cy="2159000"/>
          </a:xfrm>
          <a:prstGeom prst="roundRect">
            <a:avLst>
              <a:gd name="adj" fmla="val 0"/>
            </a:avLst>
          </a:prstGeom>
          <a:solidFill>
            <a:srgbClr val="FFFFFF">
              <a:alpha val="85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5"/>
            </p:custDataLst>
          </p:nvPr>
        </p:nvPicPr>
        <p:blipFill>
          <a:blip r:embed="rId16"/>
          <a:srcRect/>
          <a:stretch>
            <a:fillRect/>
          </a:stretch>
        </p:blipFill>
        <p:spPr>
          <a:xfrm>
            <a:off x="8191500" y="1841500"/>
            <a:ext cx="1016000" cy="1016000"/>
          </a:xfrm>
          <a:prstGeom prst="rect">
            <a:avLst/>
          </a:prstGeom>
          <a:noFill/>
          <a:ln w="25400" cap="flat" cmpd="sng">
            <a:noFill/>
            <a:prstDash val="solid"/>
            <a:round/>
          </a:ln>
        </p:spPr>
      </p:pic>
      <p:sp>
        <p:nvSpPr>
          <p:cNvPr id="16" name="AutoShape 16"/>
          <p:cNvSpPr/>
          <p:nvPr>
            <p:custDataLst>
              <p:tags r:id="rId17"/>
            </p:custDataLst>
          </p:nvPr>
        </p:nvSpPr>
        <p:spPr>
          <a:xfrm>
            <a:off x="9398000" y="18415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 · Vue 3 + TypeScript</a:t>
            </a:r>
            <a:endParaRPr lang="en-US" sz="1100"/>
          </a:p>
        </p:txBody>
      </p:sp>
      <p:cxnSp>
        <p:nvCxnSpPr>
          <p:cNvPr id="17" name="Connector 17"/>
          <p:cNvCxnSpPr/>
          <p:nvPr>
            <p:custDataLst>
              <p:tags r:id="rId18"/>
            </p:custDataLst>
          </p:nvPr>
        </p:nvCxnSpPr>
        <p:spPr>
          <a:xfrm rot="-14323">
            <a:off x="8191513" y="2978150"/>
            <a:ext cx="3048000" cy="12700"/>
          </a:xfrm>
          <a:prstGeom prst="straightConnector1">
            <a:avLst/>
          </a:prstGeom>
          <a:solidFill>
            <a:srgbClr val="DEE0E3">
              <a:alpha val="100000"/>
            </a:srgbClr>
          </a:solidFill>
          <a:ln w="12700" cap="flat" cmpd="sng">
            <a:solidFill>
              <a:srgbClr val="556B2F">
                <a:alpha val="30000"/>
              </a:srgbClr>
            </a:solidFill>
            <a:prstDash val="dash"/>
            <a:round/>
            <a:headEnd type="none" w="med" len="med"/>
            <a:tailEnd type="none" w="med" len="med"/>
          </a:ln>
        </p:spPr>
      </p:cxnSp>
      <p:sp>
        <p:nvSpPr>
          <p:cNvPr id="18" name="AutoShape 18"/>
          <p:cNvSpPr/>
          <p:nvPr>
            <p:custDataLst>
              <p:tags r:id="rId19"/>
            </p:custDataLst>
          </p:nvPr>
        </p:nvSpPr>
        <p:spPr>
          <a:xfrm>
            <a:off x="8191500" y="30734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4B4B"/>
                </a:solidFill>
                <a:latin typeface="Noto Sans SC" panose="020B0200000000000000" charset="-122"/>
                <a:ea typeface="Noto Sans SC" panose="020B0200000000000000" charset="-122"/>
                <a:cs typeface="Noto Sans SC" panose="020B0200000000000000" charset="-122"/>
                <a:sym typeface="Noto Sans SC" panose="020B0200000000000000" charset="-122"/>
              </a:rPr>
              <a:t>Vue 3 Composition API + TypeScript全链路类型安全，Vite 5提供秒级HMR热更新，前后端分离(:5173代理/api到:3001)，组件化开发6大功能模块。</a:t>
            </a:r>
            <a:endParaRPr lang="en-US" sz="1100"/>
          </a:p>
        </p:txBody>
      </p:sp>
      <p:sp>
        <p:nvSpPr>
          <p:cNvPr id="19" name="AutoShape 19"/>
          <p:cNvSpPr/>
          <p:nvPr>
            <p:custDataLst>
              <p:tags r:id="rId20"/>
            </p:custDataLst>
          </p:nvPr>
        </p:nvSpPr>
        <p:spPr>
          <a:xfrm>
            <a:off x="762000" y="4191000"/>
            <a:ext cx="3429000" cy="2159000"/>
          </a:xfrm>
          <a:prstGeom prst="roundRect">
            <a:avLst>
              <a:gd name="adj" fmla="val 0"/>
            </a:avLst>
          </a:prstGeom>
          <a:solidFill>
            <a:srgbClr val="FFFFFF">
              <a:alpha val="85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custDataLst>
              <p:tags r:id="rId21"/>
            </p:custDataLst>
          </p:nvPr>
        </p:nvPicPr>
        <p:blipFill>
          <a:blip r:embed="rId22"/>
          <a:srcRect l="12499" r="12499"/>
          <a:stretch>
            <a:fillRect/>
          </a:stretch>
        </p:blipFill>
        <p:spPr>
          <a:xfrm>
            <a:off x="952500" y="4381500"/>
            <a:ext cx="1016000" cy="1016000"/>
          </a:xfrm>
          <a:prstGeom prst="rect">
            <a:avLst/>
          </a:prstGeom>
          <a:noFill/>
          <a:ln w="25400" cap="flat" cmpd="sng">
            <a:noFill/>
            <a:prstDash val="solid"/>
            <a:round/>
          </a:ln>
        </p:spPr>
      </p:pic>
      <p:sp>
        <p:nvSpPr>
          <p:cNvPr id="21" name="AutoShape 21"/>
          <p:cNvSpPr/>
          <p:nvPr>
            <p:custDataLst>
              <p:tags r:id="rId23"/>
            </p:custDataLst>
          </p:nvPr>
        </p:nvSpPr>
        <p:spPr>
          <a:xfrm>
            <a:off x="2159000" y="43815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 · ECharts 5.5</a:t>
            </a:r>
            <a:endParaRPr lang="en-US" sz="1100"/>
          </a:p>
        </p:txBody>
      </p:sp>
      <p:cxnSp>
        <p:nvCxnSpPr>
          <p:cNvPr id="22" name="Connector 22"/>
          <p:cNvCxnSpPr/>
          <p:nvPr>
            <p:custDataLst>
              <p:tags r:id="rId24"/>
            </p:custDataLst>
          </p:nvPr>
        </p:nvCxnSpPr>
        <p:spPr>
          <a:xfrm rot="-14323">
            <a:off x="952513" y="5454650"/>
            <a:ext cx="3048000" cy="12700"/>
          </a:xfrm>
          <a:prstGeom prst="straightConnector1">
            <a:avLst/>
          </a:prstGeom>
          <a:solidFill>
            <a:srgbClr val="DEE0E3">
              <a:alpha val="100000"/>
            </a:srgbClr>
          </a:solidFill>
          <a:ln w="12700" cap="flat" cmpd="sng">
            <a:solidFill>
              <a:srgbClr val="556B2F">
                <a:alpha val="30000"/>
              </a:srgbClr>
            </a:solidFill>
            <a:prstDash val="dash"/>
            <a:round/>
            <a:headEnd type="none" w="med" len="med"/>
            <a:tailEnd type="none" w="med" len="med"/>
          </a:ln>
        </p:spPr>
      </p:cxnSp>
      <p:sp>
        <p:nvSpPr>
          <p:cNvPr id="23" name="AutoShape 23"/>
          <p:cNvSpPr/>
          <p:nvPr>
            <p:custDataLst>
              <p:tags r:id="rId25"/>
            </p:custDataLst>
          </p:nvPr>
        </p:nvSpPr>
        <p:spPr>
          <a:xfrm>
            <a:off x="952500" y="55499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4B4B"/>
                </a:solidFill>
                <a:latin typeface="Noto Sans SC" panose="020B0200000000000000" charset="-122"/>
                <a:ea typeface="Noto Sans SC" panose="020B0200000000000000" charset="-122"/>
                <a:cs typeface="Noto Sans SC" panose="020B0200000000000000" charset="-122"/>
                <a:sym typeface="Noto Sans SC" panose="020B0200000000000000" charset="-122"/>
              </a:rPr>
              <a:t>原生支持中国地图(响应度分级着色)、双轴折线图、堆叠面积图、雷达图、柱状图等多种图表类型，覆盖6大模块的可视化需求。</a:t>
            </a:r>
            <a:endParaRPr lang="en-US" sz="1100"/>
          </a:p>
        </p:txBody>
      </p:sp>
      <p:sp>
        <p:nvSpPr>
          <p:cNvPr id="24" name="AutoShape 24"/>
          <p:cNvSpPr/>
          <p:nvPr>
            <p:custDataLst>
              <p:tags r:id="rId26"/>
            </p:custDataLst>
          </p:nvPr>
        </p:nvSpPr>
        <p:spPr>
          <a:xfrm>
            <a:off x="4381500" y="4191000"/>
            <a:ext cx="3429000" cy="2159000"/>
          </a:xfrm>
          <a:prstGeom prst="roundRect">
            <a:avLst>
              <a:gd name="adj" fmla="val 0"/>
            </a:avLst>
          </a:prstGeom>
          <a:solidFill>
            <a:srgbClr val="FFFFFF">
              <a:alpha val="85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custDataLst>
              <p:tags r:id="rId27"/>
            </p:custDataLst>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4572000" y="4381500"/>
            <a:ext cx="1016000" cy="1016000"/>
          </a:xfrm>
          <a:prstGeom prst="rect">
            <a:avLst/>
          </a:prstGeom>
        </p:spPr>
      </p:pic>
      <p:sp>
        <p:nvSpPr>
          <p:cNvPr id="26" name="AutoShape 26"/>
          <p:cNvSpPr/>
          <p:nvPr>
            <p:custDataLst>
              <p:tags r:id="rId30"/>
            </p:custDataLst>
          </p:nvPr>
        </p:nvSpPr>
        <p:spPr>
          <a:xfrm>
            <a:off x="5778500" y="43815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地图 · DataV GeoJSON</a:t>
            </a:r>
            <a:endParaRPr lang="en-US" sz="1100"/>
          </a:p>
        </p:txBody>
      </p:sp>
      <p:cxnSp>
        <p:nvCxnSpPr>
          <p:cNvPr id="27" name="Connector 27"/>
          <p:cNvCxnSpPr/>
          <p:nvPr>
            <p:custDataLst>
              <p:tags r:id="rId31"/>
            </p:custDataLst>
          </p:nvPr>
        </p:nvCxnSpPr>
        <p:spPr>
          <a:xfrm rot="-14323">
            <a:off x="4572013" y="5454650"/>
            <a:ext cx="3048000" cy="12700"/>
          </a:xfrm>
          <a:prstGeom prst="straightConnector1">
            <a:avLst/>
          </a:prstGeom>
          <a:solidFill>
            <a:srgbClr val="DEE0E3">
              <a:alpha val="100000"/>
            </a:srgbClr>
          </a:solidFill>
          <a:ln w="12700" cap="flat" cmpd="sng">
            <a:solidFill>
              <a:srgbClr val="556B2F">
                <a:alpha val="30000"/>
              </a:srgbClr>
            </a:solidFill>
            <a:prstDash val="dash"/>
            <a:round/>
            <a:headEnd type="none" w="med" len="med"/>
            <a:tailEnd type="none" w="med" len="med"/>
          </a:ln>
        </p:spPr>
      </p:cxnSp>
      <p:sp>
        <p:nvSpPr>
          <p:cNvPr id="28" name="AutoShape 28"/>
          <p:cNvSpPr/>
          <p:nvPr>
            <p:custDataLst>
              <p:tags r:id="rId32"/>
            </p:custDataLst>
          </p:nvPr>
        </p:nvSpPr>
        <p:spPr>
          <a:xfrm>
            <a:off x="4572000" y="55499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4B4B"/>
                </a:solidFill>
                <a:latin typeface="Noto Sans SC" panose="020B0200000000000000" charset="-122"/>
                <a:ea typeface="Noto Sans SC" panose="020B0200000000000000" charset="-122"/>
                <a:cs typeface="Noto Sans SC" panose="020B0200000000000000" charset="-122"/>
                <a:sym typeface="Noto Sans SC" panose="020B0200000000000000" charset="-122"/>
              </a:rPr>
              <a:t>阿里云DataV提供高精度中国省级边界GeoJSON数据，CDN动态加载并注册为ECharts地图组件，实现31省精准地理展示。</a:t>
            </a:r>
            <a:endParaRPr lang="en-US" sz="1100"/>
          </a:p>
        </p:txBody>
      </p:sp>
      <p:sp>
        <p:nvSpPr>
          <p:cNvPr id="29" name="AutoShape 29"/>
          <p:cNvSpPr/>
          <p:nvPr>
            <p:custDataLst>
              <p:tags r:id="rId33"/>
            </p:custDataLst>
          </p:nvPr>
        </p:nvSpPr>
        <p:spPr>
          <a:xfrm>
            <a:off x="8001000" y="4191000"/>
            <a:ext cx="3429000" cy="2159000"/>
          </a:xfrm>
          <a:prstGeom prst="roundRect">
            <a:avLst>
              <a:gd name="adj" fmla="val 0"/>
            </a:avLst>
          </a:prstGeom>
          <a:solidFill>
            <a:srgbClr val="FFFFFF">
              <a:alpha val="85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pic>
        <p:nvPicPr>
          <p:cNvPr id="30" name="Picture 30"/>
          <p:cNvPicPr>
            <a:picLocks noChangeAspect="1"/>
          </p:cNvPicPr>
          <p:nvPr>
            <p:custDataLst>
              <p:tags r:id="rId34"/>
            </p:custDataLst>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8191500" y="4381500"/>
            <a:ext cx="1016000" cy="1016000"/>
          </a:xfrm>
          <a:prstGeom prst="rect">
            <a:avLst/>
          </a:prstGeom>
        </p:spPr>
      </p:pic>
      <p:sp>
        <p:nvSpPr>
          <p:cNvPr id="31" name="AutoShape 31"/>
          <p:cNvSpPr/>
          <p:nvPr>
            <p:custDataLst>
              <p:tags r:id="rId37"/>
            </p:custDataLst>
          </p:nvPr>
        </p:nvSpPr>
        <p:spPr>
          <a:xfrm>
            <a:off x="9398000" y="43815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样式 · CSS Grid + 田园视觉</a:t>
            </a:r>
            <a:endParaRPr lang="en-US" sz="1100"/>
          </a:p>
        </p:txBody>
      </p:sp>
      <p:cxnSp>
        <p:nvCxnSpPr>
          <p:cNvPr id="32" name="Connector 32"/>
          <p:cNvCxnSpPr/>
          <p:nvPr>
            <p:custDataLst>
              <p:tags r:id="rId38"/>
            </p:custDataLst>
          </p:nvPr>
        </p:nvCxnSpPr>
        <p:spPr>
          <a:xfrm rot="-14323">
            <a:off x="8191513" y="5454650"/>
            <a:ext cx="3048000" cy="12700"/>
          </a:xfrm>
          <a:prstGeom prst="straightConnector1">
            <a:avLst/>
          </a:prstGeom>
          <a:solidFill>
            <a:srgbClr val="DEE0E3">
              <a:alpha val="100000"/>
            </a:srgbClr>
          </a:solidFill>
          <a:ln w="12700" cap="flat" cmpd="sng">
            <a:solidFill>
              <a:srgbClr val="556B2F">
                <a:alpha val="30000"/>
              </a:srgbClr>
            </a:solidFill>
            <a:prstDash val="dash"/>
            <a:round/>
            <a:headEnd type="none" w="med" len="med"/>
            <a:tailEnd type="none" w="med" len="med"/>
          </a:ln>
        </p:spPr>
      </p:cxnSp>
      <p:sp>
        <p:nvSpPr>
          <p:cNvPr id="33" name="AutoShape 33"/>
          <p:cNvSpPr/>
          <p:nvPr>
            <p:custDataLst>
              <p:tags r:id="rId39"/>
            </p:custDataLst>
          </p:nvPr>
        </p:nvSpPr>
        <p:spPr>
          <a:xfrm>
            <a:off x="8191500" y="55499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4B4B"/>
                </a:solidFill>
                <a:latin typeface="Noto Sans SC" panose="020B0200000000000000" charset="-122"/>
                <a:ea typeface="Noto Sans SC" panose="020B0200000000000000" charset="-122"/>
                <a:cs typeface="Noto Sans SC" panose="020B0200000000000000" charset="-122"/>
                <a:sym typeface="Noto Sans SC" panose="020B0200000000000000" charset="-122"/>
              </a:rPr>
              <a:t>CSS Grid 8行×3列弹性网格布局(100vw×100vh)，暖白马卡龙田园背景(#FFFBF5)配合全透明卡片与田园光斑纹理，Noto Serif SC思源宋体标题 + DIN Pro等宽数字字体。</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关键算法与数据处理</a:t>
            </a:r>
            <a:endParaRPr lang="en-US" sz="1100"/>
          </a:p>
        </p:txBody>
      </p:sp>
      <p:sp>
        <p:nvSpPr>
          <p:cNvPr id="4" name="AutoShape 4"/>
          <p:cNvSpPr/>
          <p:nvPr/>
        </p:nvSpPr>
        <p:spPr>
          <a:xfrm>
            <a:off x="762000" y="1905000"/>
            <a:ext cx="3429000" cy="3683000"/>
          </a:xfrm>
          <a:prstGeom prst="roundRect">
            <a:avLst>
              <a:gd name="adj" fmla="val 0"/>
            </a:avLst>
          </a:prstGeom>
          <a:solidFill>
            <a:srgbClr val="FFFFFF">
              <a:alpha val="65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095500"/>
            <a:ext cx="406400" cy="406400"/>
          </a:xfrm>
          <a:prstGeom prst="rect">
            <a:avLst/>
          </a:prstGeom>
        </p:spPr>
      </p:pic>
      <p:sp>
        <p:nvSpPr>
          <p:cNvPr id="6" name="AutoShape 6"/>
          <p:cNvSpPr/>
          <p:nvPr/>
        </p:nvSpPr>
        <p:spPr>
          <a:xfrm>
            <a:off x="1460500" y="21082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政策响应度计算</a:t>
            </a:r>
            <a:endParaRPr lang="en-US" sz="1100"/>
          </a:p>
        </p:txBody>
      </p:sp>
      <p:cxnSp>
        <p:nvCxnSpPr>
          <p:cNvPr id="7" name="Connector 7"/>
          <p:cNvCxnSpPr/>
          <p:nvPr/>
        </p:nvCxnSpPr>
        <p:spPr>
          <a:xfrm rot="-14323">
            <a:off x="952513" y="2660650"/>
            <a:ext cx="3048000" cy="12700"/>
          </a:xfrm>
          <a:prstGeom prst="straightConnector1">
            <a:avLst/>
          </a:prstGeom>
          <a:solidFill>
            <a:srgbClr val="DEE0E3">
              <a:alpha val="100000"/>
            </a:srgbClr>
          </a:solidFill>
          <a:ln w="12700" cap="flat" cmpd="sng">
            <a:solidFill>
              <a:srgbClr val="556B2F">
                <a:alpha val="30000"/>
              </a:srgbClr>
            </a:solidFill>
            <a:prstDash val="solid"/>
            <a:round/>
            <a:headEnd type="none" w="med" len="med"/>
            <a:tailEnd type="none" w="med" len="med"/>
          </a:ln>
        </p:spPr>
      </p:cxnSp>
      <p:sp>
        <p:nvSpPr>
          <p:cNvPr id="8" name="AutoShape 8"/>
          <p:cNvSpPr/>
          <p:nvPr/>
        </p:nvSpPr>
        <p:spPr>
          <a:xfrm>
            <a:off x="952500" y="28575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以各省化肥减量率为基础，除以全国化肥减量率均值，生成标准化响应度指标。采用四色分级：高度响应(≥1.5)、正常(1.0-1.5)、弱(0.5-1.0)、未响应(&lt;0.5)。</a:t>
            </a:r>
            <a:endParaRPr lang="en-US" sz="1100"/>
          </a:p>
        </p:txBody>
      </p:sp>
      <p:sp>
        <p:nvSpPr>
          <p:cNvPr id="9" name="AutoShape 9"/>
          <p:cNvSpPr/>
          <p:nvPr/>
        </p:nvSpPr>
        <p:spPr>
          <a:xfrm>
            <a:off x="952500" y="4191000"/>
            <a:ext cx="3048000" cy="10795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79500" y="4254500"/>
            <a:ext cx="279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核心公式：</a:t>
            </a:r>
            <a:endParaRPr lang="en-US" sz="1100"/>
          </a:p>
          <a:p>
            <a:pPr marL="0" indent="0" algn="l">
              <a:lnSpc>
                <a:spcPct val="108000"/>
              </a:lnSpc>
            </a:pP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响应度 = (省份化肥减量率) ÷ (全国化肥减量率)  2016年为基线年
减量率 = (2016用量 - 选中年用量) / 2016用量 × 100%</a:t>
            </a:r>
            <a:endPar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4381500" y="1905000"/>
            <a:ext cx="3429000" cy="3683000"/>
          </a:xfrm>
          <a:prstGeom prst="roundRect">
            <a:avLst>
              <a:gd name="adj" fmla="val 0"/>
            </a:avLst>
          </a:prstGeom>
          <a:solidFill>
            <a:srgbClr val="FFFFFF">
              <a:alpha val="65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2095500"/>
            <a:ext cx="406400" cy="406400"/>
          </a:xfrm>
          <a:prstGeom prst="rect">
            <a:avLst/>
          </a:prstGeom>
        </p:spPr>
      </p:pic>
      <p:sp>
        <p:nvSpPr>
          <p:cNvPr id="13" name="AutoShape 13"/>
          <p:cNvSpPr/>
          <p:nvPr/>
        </p:nvSpPr>
        <p:spPr>
          <a:xfrm>
            <a:off x="5080000" y="21082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产出保障趋势分析</a:t>
            </a:r>
            <a:endParaRPr lang="en-US" sz="1100"/>
          </a:p>
        </p:txBody>
      </p:sp>
      <p:cxnSp>
        <p:nvCxnSpPr>
          <p:cNvPr id="14" name="Connector 14"/>
          <p:cNvCxnSpPr/>
          <p:nvPr/>
        </p:nvCxnSpPr>
        <p:spPr>
          <a:xfrm rot="-14323">
            <a:off x="4572013" y="2660650"/>
            <a:ext cx="3048000" cy="12700"/>
          </a:xfrm>
          <a:prstGeom prst="straightConnector1">
            <a:avLst/>
          </a:prstGeom>
          <a:solidFill>
            <a:srgbClr val="DEE0E3">
              <a:alpha val="100000"/>
            </a:srgbClr>
          </a:solidFill>
          <a:ln w="12700" cap="flat" cmpd="sng">
            <a:solidFill>
              <a:srgbClr val="556B2F">
                <a:alpha val="30000"/>
              </a:srgbClr>
            </a:solidFill>
            <a:prstDash val="solid"/>
            <a:round/>
            <a:headEnd type="none" w="med" len="med"/>
            <a:tailEnd type="none" w="med" len="med"/>
          </a:ln>
        </p:spPr>
      </p:cxnSp>
      <p:sp>
        <p:nvSpPr>
          <p:cNvPr id="15" name="AutoShape 15"/>
          <p:cNvSpPr/>
          <p:nvPr/>
        </p:nvSpPr>
        <p:spPr>
          <a:xfrm>
            <a:off x="4572000" y="28575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将省份分为四类：减量增产型(标杆省份)、减量减产型(重点关注)、增量增产型(资源驱动)、增量减产型(效率不足)</a:t>
            </a:r>
            <a:endParaRPr lang="en-US" sz="1100"/>
          </a:p>
        </p:txBody>
      </p:sp>
      <p:sp>
        <p:nvSpPr>
          <p:cNvPr id="16" name="AutoShape 16"/>
          <p:cNvSpPr/>
          <p:nvPr/>
        </p:nvSpPr>
        <p:spPr>
          <a:xfrm>
            <a:off x="4572000" y="4191000"/>
            <a:ext cx="3048000" cy="10795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699000" y="4254500"/>
            <a:ext cx="279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核心公式：</a:t>
            </a:r>
            <a:endParaRPr lang="en-US" sz="1100"/>
          </a:p>
          <a:p>
            <a:pPr marL="0" indent="0" algn="l">
              <a:lnSpc>
                <a:spcPct val="108000"/>
              </a:lnSpc>
            </a:pP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趋势判断 = 化肥减量率 &gt; 0 且 粮食增产率 &gt; 0  减量增产</a:t>
            </a:r>
            <a:endPar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8001000" y="1905000"/>
            <a:ext cx="3429000" cy="3683000"/>
          </a:xfrm>
          <a:prstGeom prst="roundRect">
            <a:avLst>
              <a:gd name="adj" fmla="val 0"/>
            </a:avLst>
          </a:prstGeom>
          <a:solidFill>
            <a:srgbClr val="FFFFFF">
              <a:alpha val="65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2095500"/>
            <a:ext cx="406400" cy="406400"/>
          </a:xfrm>
          <a:prstGeom prst="rect">
            <a:avLst/>
          </a:prstGeom>
        </p:spPr>
      </p:pic>
      <p:sp>
        <p:nvSpPr>
          <p:cNvPr id="20" name="AutoShape 20"/>
          <p:cNvSpPr/>
          <p:nvPr/>
        </p:nvSpPr>
        <p:spPr>
          <a:xfrm>
            <a:off x="8699500" y="21082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肥料利用效率（雷达图维度1）</a:t>
            </a:r>
            <a:endParaRPr lang="en-US" sz="1100"/>
          </a:p>
        </p:txBody>
      </p:sp>
      <p:cxnSp>
        <p:nvCxnSpPr>
          <p:cNvPr id="21" name="Connector 21"/>
          <p:cNvCxnSpPr/>
          <p:nvPr/>
        </p:nvCxnSpPr>
        <p:spPr>
          <a:xfrm rot="-14323">
            <a:off x="8191513" y="2660650"/>
            <a:ext cx="3048000" cy="12700"/>
          </a:xfrm>
          <a:prstGeom prst="straightConnector1">
            <a:avLst/>
          </a:prstGeom>
          <a:solidFill>
            <a:srgbClr val="DEE0E3">
              <a:alpha val="100000"/>
            </a:srgbClr>
          </a:solidFill>
          <a:ln w="12700" cap="flat" cmpd="sng">
            <a:solidFill>
              <a:srgbClr val="556B2F">
                <a:alpha val="30000"/>
              </a:srgbClr>
            </a:solidFill>
            <a:prstDash val="solid"/>
            <a:round/>
            <a:headEnd type="none" w="med" len="med"/>
            <a:tailEnd type="none" w="med" len="med"/>
          </a:ln>
        </p:spPr>
      </p:cxnSp>
      <p:sp>
        <p:nvSpPr>
          <p:cNvPr id="22" name="AutoShape 22"/>
          <p:cNvSpPr/>
          <p:nvPr/>
        </p:nvSpPr>
        <p:spPr>
          <a:xfrm>
            <a:off x="8191500" y="28575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各省肥料利用效率(吨粮/吨肥)，作为模块5七区域雷达图六维指标中的核心维度。结合养分留存率、节水效率、面源污染降幅、土壤酸化改善、板结修复共6项指标，Min-Max标准化至0-100分，取区域各省均值进行综合对比。</a:t>
            </a:r>
            <a:endParaRPr lang="en-US" sz="1100"/>
          </a:p>
        </p:txBody>
      </p:sp>
      <p:sp>
        <p:nvSpPr>
          <p:cNvPr id="23" name="AutoShape 23"/>
          <p:cNvSpPr/>
          <p:nvPr/>
        </p:nvSpPr>
        <p:spPr>
          <a:xfrm>
            <a:off x="8191500" y="4191000"/>
            <a:ext cx="3048000" cy="10795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318500" y="4254500"/>
            <a:ext cx="279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标准化流程：</a:t>
            </a:r>
            <a:endParaRPr lang="en-US" sz="1100"/>
          </a:p>
          <a:p>
            <a:pPr marL="0" indent="0" algn="l">
              <a:lnSpc>
                <a:spcPct val="108000"/>
              </a:lnSpc>
            </a:pP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六维综合评分 =  Avg(各维度Min-Max标准化得分)，每区域取所辖各省均值</a:t>
            </a:r>
            <a:endPar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762000" y="5842000"/>
            <a:ext cx="10668000" cy="635000"/>
          </a:xfrm>
          <a:prstGeom prst="roundRect">
            <a:avLst>
              <a:gd name="adj" fmla="val 0"/>
            </a:avLst>
          </a:prstGeom>
          <a:solidFill>
            <a:srgbClr val="556B2F">
              <a:alpha val="1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952500" y="5905500"/>
            <a:ext cx="1028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通过三大核心算法的协同运作，我们将12,284条原始农业数据转化为可视化、可对比的政策响应评估体系，为化肥减量增效政策的精准制定提供科学依据。</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数据流水线</a:t>
            </a:r>
            <a:endParaRPr lang="en-US" sz="1100"/>
          </a:p>
        </p:txBody>
      </p:sp>
      <p:sp>
        <p:nvSpPr>
          <p:cNvPr id="4" name="AutoShape 4"/>
          <p:cNvSpPr/>
          <p:nvPr/>
        </p:nvSpPr>
        <p:spPr>
          <a:xfrm>
            <a:off x="762000" y="1651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为解决原始数据碎片化、多格式的问题，我们设计了一套基于Node.js的自动化数据处理流水线，通过标准化的脚本解析与转换，将139个CSV文件无缝转化为MySQL结构化数据资产。</a:t>
            </a:r>
            <a:endParaRPr lang="en-US" sz="1100"/>
          </a:p>
        </p:txBody>
      </p:sp>
      <p:sp>
        <p:nvSpPr>
          <p:cNvPr id="5" name="AutoShape 5"/>
          <p:cNvSpPr/>
          <p:nvPr/>
        </p:nvSpPr>
        <p:spPr>
          <a:xfrm>
            <a:off x="762000" y="3175000"/>
            <a:ext cx="1981200" cy="1905000"/>
          </a:xfrm>
          <a:prstGeom prst="roundRect">
            <a:avLst>
              <a:gd name="adj" fmla="val 0"/>
            </a:avLst>
          </a:prstGeom>
          <a:solidFill>
            <a:srgbClr val="556B2F">
              <a:alpha val="8000"/>
            </a:srgbClr>
          </a:solidFill>
          <a:ln w="12700" cap="flat" cmpd="sng">
            <a:solidFill>
              <a:srgbClr val="556B2F">
                <a:alpha val="4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365500"/>
            <a:ext cx="406400" cy="406400"/>
          </a:xfrm>
          <a:prstGeom prst="rect">
            <a:avLst/>
          </a:prstGeom>
        </p:spPr>
      </p:pic>
      <p:sp>
        <p:nvSpPr>
          <p:cNvPr id="7" name="AutoShape 7"/>
          <p:cNvSpPr/>
          <p:nvPr/>
        </p:nvSpPr>
        <p:spPr>
          <a:xfrm>
            <a:off x="952500" y="3937000"/>
            <a:ext cx="1600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 CSV</a:t>
            </a:r>
            <a:endParaRPr lang="en-US" sz="1100"/>
          </a:p>
          <a:p>
            <a:pPr marL="0" indent="0" algn="l">
              <a:lnSpc>
                <a:spcPct val="108000"/>
              </a:lnSpc>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139个CSV文件（14大类）
含全国汇总+分省明细两种格式</a:t>
            </a:r>
            <a:endPar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nvCxnSpPr>
        <p:spPr>
          <a:xfrm rot="-171744">
            <a:off x="2870359" y="4121150"/>
            <a:ext cx="254000" cy="12700"/>
          </a:xfrm>
          <a:prstGeom prst="straightConnector1">
            <a:avLst/>
          </a:prstGeom>
          <a:solidFill>
            <a:srgbClr val="DEE0E3">
              <a:alpha val="100000"/>
            </a:srgbClr>
          </a:solidFill>
          <a:ln w="25400" cap="flat" cmpd="sng">
            <a:solidFill>
              <a:srgbClr val="556B2F">
                <a:alpha val="60000"/>
              </a:srgbClr>
            </a:solidFill>
            <a:prstDash val="solid"/>
            <a:round/>
            <a:headEnd type="none" w="lg" len="lg"/>
            <a:tailEnd type="arrow" w="sm" len="sm"/>
          </a:ln>
        </p:spPr>
      </p:cxnSp>
      <p:sp>
        <p:nvSpPr>
          <p:cNvPr id="9" name="AutoShape 9"/>
          <p:cNvSpPr/>
          <p:nvPr/>
        </p:nvSpPr>
        <p:spPr>
          <a:xfrm>
            <a:off x="3251200" y="3175000"/>
            <a:ext cx="1981200" cy="1905000"/>
          </a:xfrm>
          <a:prstGeom prst="roundRect">
            <a:avLst>
              <a:gd name="adj" fmla="val 0"/>
            </a:avLst>
          </a:prstGeom>
          <a:solidFill>
            <a:srgbClr val="556B2F">
              <a:alpha val="8000"/>
            </a:srgbClr>
          </a:solidFill>
          <a:ln w="12700" cap="flat" cmpd="sng">
            <a:solidFill>
              <a:srgbClr val="556B2F">
                <a:alpha val="4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41700" y="3365500"/>
            <a:ext cx="406400" cy="406400"/>
          </a:xfrm>
          <a:prstGeom prst="rect">
            <a:avLst/>
          </a:prstGeom>
        </p:spPr>
      </p:pic>
      <p:sp>
        <p:nvSpPr>
          <p:cNvPr id="11" name="AutoShape 11"/>
          <p:cNvSpPr/>
          <p:nvPr/>
        </p:nvSpPr>
        <p:spPr>
          <a:xfrm>
            <a:off x="3441700" y="3937000"/>
            <a:ext cx="1600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解析与导入</a:t>
            </a:r>
            <a:endParaRPr lang="en-US" sz="1100"/>
          </a:p>
          <a:p>
            <a:pPr marL="0" indent="0" algn="l">
              <a:lnSpc>
                <a:spcPct val="108000"/>
              </a:lnSpc>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import_data.js
解析CSV并批量写入MySQL</a:t>
            </a:r>
            <a:endPar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2" name="Connector 12"/>
          <p:cNvCxnSpPr/>
          <p:nvPr/>
        </p:nvCxnSpPr>
        <p:spPr>
          <a:xfrm rot="-171744">
            <a:off x="5359559" y="4121150"/>
            <a:ext cx="254000" cy="12700"/>
          </a:xfrm>
          <a:prstGeom prst="straightConnector1">
            <a:avLst/>
          </a:prstGeom>
          <a:solidFill>
            <a:srgbClr val="DEE0E3">
              <a:alpha val="100000"/>
            </a:srgbClr>
          </a:solidFill>
          <a:ln w="25400" cap="flat" cmpd="sng">
            <a:solidFill>
              <a:srgbClr val="556B2F">
                <a:alpha val="60000"/>
              </a:srgbClr>
            </a:solidFill>
            <a:prstDash val="solid"/>
            <a:round/>
            <a:headEnd type="none" w="lg" len="lg"/>
            <a:tailEnd type="arrow" w="sm" len="sm"/>
          </a:ln>
        </p:spPr>
      </p:cxnSp>
      <p:sp>
        <p:nvSpPr>
          <p:cNvPr id="13" name="AutoShape 13"/>
          <p:cNvSpPr/>
          <p:nvPr/>
        </p:nvSpPr>
        <p:spPr>
          <a:xfrm>
            <a:off x="5740400" y="3175000"/>
            <a:ext cx="1981200" cy="1905000"/>
          </a:xfrm>
          <a:prstGeom prst="roundRect">
            <a:avLst>
              <a:gd name="adj" fmla="val 0"/>
            </a:avLst>
          </a:prstGeom>
          <a:solidFill>
            <a:srgbClr val="556B2F">
              <a:alpha val="8000"/>
            </a:srgbClr>
          </a:solidFill>
          <a:ln w="12700" cap="flat" cmpd="sng">
            <a:solidFill>
              <a:srgbClr val="556B2F">
                <a:alpha val="4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30900" y="3365500"/>
            <a:ext cx="406400" cy="406400"/>
          </a:xfrm>
          <a:prstGeom prst="rect">
            <a:avLst/>
          </a:prstGeom>
        </p:spPr>
      </p:pic>
      <p:sp>
        <p:nvSpPr>
          <p:cNvPr id="15" name="AutoShape 15"/>
          <p:cNvSpPr/>
          <p:nvPr/>
        </p:nvSpPr>
        <p:spPr>
          <a:xfrm>
            <a:off x="5930900" y="3937000"/>
            <a:ext cx="1600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MySQL数据层</a:t>
            </a:r>
            <a:endParaRPr lang="en-US" sz="1100"/>
          </a:p>
          <a:p>
            <a:pPr marL="0" indent="0" algn="l">
              <a:lnSpc>
                <a:spcPct val="108000"/>
              </a:lnSpc>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agriculture_green.indicator_data
EAV单表，12,284条记录</a:t>
            </a:r>
            <a:endPar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6" name="Connector 16"/>
          <p:cNvCxnSpPr/>
          <p:nvPr/>
        </p:nvCxnSpPr>
        <p:spPr>
          <a:xfrm rot="-171744">
            <a:off x="7848759" y="4121150"/>
            <a:ext cx="254000" cy="12700"/>
          </a:xfrm>
          <a:prstGeom prst="straightConnector1">
            <a:avLst/>
          </a:prstGeom>
          <a:solidFill>
            <a:srgbClr val="DEE0E3">
              <a:alpha val="100000"/>
            </a:srgbClr>
          </a:solidFill>
          <a:ln w="25400" cap="flat" cmpd="sng">
            <a:solidFill>
              <a:srgbClr val="556B2F">
                <a:alpha val="60000"/>
              </a:srgbClr>
            </a:solidFill>
            <a:prstDash val="solid"/>
            <a:round/>
            <a:headEnd type="none" w="lg" len="lg"/>
            <a:tailEnd type="arrow" w="sm" len="sm"/>
          </a:ln>
        </p:spPr>
      </p:cxnSp>
      <p:sp>
        <p:nvSpPr>
          <p:cNvPr id="17" name="AutoShape 17"/>
          <p:cNvSpPr/>
          <p:nvPr/>
        </p:nvSpPr>
        <p:spPr>
          <a:xfrm>
            <a:off x="8229600" y="3175000"/>
            <a:ext cx="1981200" cy="1905000"/>
          </a:xfrm>
          <a:prstGeom prst="roundRect">
            <a:avLst>
              <a:gd name="adj" fmla="val 0"/>
            </a:avLst>
          </a:prstGeom>
          <a:solidFill>
            <a:srgbClr val="556B2F">
              <a:alpha val="8000"/>
            </a:srgbClr>
          </a:solidFill>
          <a:ln w="12700" cap="flat" cmpd="sng">
            <a:solidFill>
              <a:srgbClr val="556B2F">
                <a:alpha val="4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420100" y="3365500"/>
            <a:ext cx="406400" cy="406400"/>
          </a:xfrm>
          <a:prstGeom prst="rect">
            <a:avLst/>
          </a:prstGeom>
        </p:spPr>
      </p:pic>
      <p:sp>
        <p:nvSpPr>
          <p:cNvPr id="19" name="AutoShape 19"/>
          <p:cNvSpPr/>
          <p:nvPr/>
        </p:nvSpPr>
        <p:spPr>
          <a:xfrm>
            <a:off x="8420100" y="3937000"/>
            <a:ext cx="1600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API聚合计算</a:t>
            </a:r>
            <a:endParaRPr lang="en-US" sz="1100"/>
          </a:p>
          <a:p>
            <a:pPr marL="0" indent="0" algn="l">
              <a:lnSpc>
                <a:spcPct val="108000"/>
              </a:lnSpc>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Express /api/dashboard
预计算响应度等所有衍生指标</a:t>
            </a:r>
            <a:endPar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0" name="Connector 20"/>
          <p:cNvCxnSpPr/>
          <p:nvPr/>
        </p:nvCxnSpPr>
        <p:spPr>
          <a:xfrm rot="-214580">
            <a:off x="10337998" y="4121150"/>
            <a:ext cx="203200" cy="12700"/>
          </a:xfrm>
          <a:prstGeom prst="straightConnector1">
            <a:avLst/>
          </a:prstGeom>
          <a:solidFill>
            <a:srgbClr val="DEE0E3">
              <a:alpha val="100000"/>
            </a:srgbClr>
          </a:solidFill>
          <a:ln w="25400" cap="flat" cmpd="sng">
            <a:solidFill>
              <a:srgbClr val="556B2F">
                <a:alpha val="60000"/>
              </a:srgbClr>
            </a:solidFill>
            <a:prstDash val="solid"/>
            <a:round/>
            <a:headEnd type="none" w="lg" len="lg"/>
            <a:tailEnd type="arrow" w="sm" len="sm"/>
          </a:ln>
        </p:spPr>
      </p:cxnSp>
      <p:sp>
        <p:nvSpPr>
          <p:cNvPr id="21" name="AutoShape 21"/>
          <p:cNvSpPr/>
          <p:nvPr/>
        </p:nvSpPr>
        <p:spPr>
          <a:xfrm>
            <a:off x="10566400" y="3175000"/>
            <a:ext cx="1397000" cy="1905000"/>
          </a:xfrm>
          <a:prstGeom prst="roundRect">
            <a:avLst>
              <a:gd name="adj" fmla="val 0"/>
            </a:avLst>
          </a:prstGeom>
          <a:solidFill>
            <a:srgbClr val="556B2F">
              <a:alpha val="15000"/>
            </a:srgbClr>
          </a:solidFill>
          <a:ln w="12700" cap="flat" cmpd="sng">
            <a:solidFill>
              <a:srgbClr val="556B2F">
                <a:alpha val="10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693400" y="3365500"/>
            <a:ext cx="406400" cy="406400"/>
          </a:xfrm>
          <a:prstGeom prst="rect">
            <a:avLst/>
          </a:prstGeom>
        </p:spPr>
      </p:pic>
      <p:sp>
        <p:nvSpPr>
          <p:cNvPr id="23" name="AutoShape 23"/>
          <p:cNvSpPr/>
          <p:nvPr/>
        </p:nvSpPr>
        <p:spPr>
          <a:xfrm>
            <a:off x="10693400" y="3937000"/>
            <a:ext cx="114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前端展示</a:t>
            </a:r>
            <a:endParaRPr lang="en-US" sz="1100"/>
          </a:p>
          <a:p>
            <a:pPr marL="0" indent="0" algn="l">
              <a:lnSpc>
                <a:spcPct val="108000"/>
              </a:lnSpc>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Vue 3 + ECharts
6大模块交互式可视化</a:t>
            </a:r>
            <a:endPar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762000" y="5588000"/>
            <a:ext cx="11201400" cy="889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762000" y="5588000"/>
            <a:ext cx="50800" cy="8890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1016000" y="5689600"/>
            <a:ext cx="10693400" cy="685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这一全自动化流水线消除了人工处理数据的误差与延迟，实现了从139个原始CSV到MySQL结构化数据库的无缝转化，并通过API层预计算衍生指标，保障了前端展示的高效响应与数据一致性。</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413000"/>
            <a:ext cx="12192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4" name="AutoShape 4"/>
          <p:cNvSpPr/>
          <p:nvPr/>
        </p:nvSpPr>
        <p:spPr>
          <a:xfrm>
            <a:off x="5778500" y="4191000"/>
            <a:ext cx="635000" cy="508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572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项目特色及成果展示</a:t>
            </a:r>
            <a:endParaRPr lang="en-US" sz="1100"/>
          </a:p>
        </p:txBody>
      </p:sp>
      <p:sp>
        <p:nvSpPr>
          <p:cNvPr id="6" name="AutoShape 6"/>
          <p:cNvSpPr/>
          <p:nvPr/>
        </p:nvSpPr>
        <p:spPr>
          <a:xfrm>
            <a:off x="0" y="5715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556B2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FEATURES &amp; ACHIEVEMENTS</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项目核心特色</a:t>
            </a:r>
            <a:endParaRPr lang="en-US" sz="1100"/>
          </a:p>
        </p:txBody>
      </p:sp>
      <p:sp>
        <p:nvSpPr>
          <p:cNvPr id="4" name="AutoShape 4"/>
          <p:cNvSpPr/>
          <p:nvPr/>
        </p:nvSpPr>
        <p:spPr>
          <a:xfrm>
            <a:off x="762000" y="1905000"/>
            <a:ext cx="5270500" cy="19685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19685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95500"/>
            <a:ext cx="406400" cy="406400"/>
          </a:xfrm>
          <a:prstGeom prst="rect">
            <a:avLst/>
          </a:prstGeom>
        </p:spPr>
      </p:pic>
      <p:sp>
        <p:nvSpPr>
          <p:cNvPr id="7" name="AutoShape 7"/>
          <p:cNvSpPr/>
          <p:nvPr/>
        </p:nvSpPr>
        <p:spPr>
          <a:xfrm>
            <a:off x="1587500" y="2057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01. 六位一体全链条监测体系</a:t>
            </a:r>
            <a:endParaRPr lang="en-US" sz="1100"/>
          </a:p>
        </p:txBody>
      </p:sp>
      <p:cxnSp>
        <p:nvCxnSpPr>
          <p:cNvPr id="8" name="Connector 8"/>
          <p:cNvCxnSpPr/>
          <p:nvPr/>
        </p:nvCxnSpPr>
        <p:spPr>
          <a:xfrm rot="-9167">
            <a:off x="1016008" y="2660650"/>
            <a:ext cx="47625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9" name="AutoShape 9"/>
          <p:cNvSpPr/>
          <p:nvPr/>
        </p:nvSpPr>
        <p:spPr>
          <a:xfrm>
            <a:off x="1016000" y="27940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覆盖地图(响应度着色)、双轴折线图、堆叠面积图、雷达图、柱状图、仪表盘等全类型可视化形式。</a:t>
            </a:r>
            <a:endParaRPr lang="en-US" sz="1100"/>
          </a:p>
        </p:txBody>
      </p:sp>
      <p:sp>
        <p:nvSpPr>
          <p:cNvPr id="10" name="AutoShape 10"/>
          <p:cNvSpPr/>
          <p:nvPr/>
        </p:nvSpPr>
        <p:spPr>
          <a:xfrm>
            <a:off x="6413500" y="1905000"/>
            <a:ext cx="5270500" cy="19685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413500" y="1905000"/>
            <a:ext cx="76200" cy="19685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7500" y="2095500"/>
            <a:ext cx="406400" cy="406400"/>
          </a:xfrm>
          <a:prstGeom prst="rect">
            <a:avLst/>
          </a:prstGeom>
        </p:spPr>
      </p:pic>
      <p:sp>
        <p:nvSpPr>
          <p:cNvPr id="13" name="AutoShape 13"/>
          <p:cNvSpPr/>
          <p:nvPr/>
        </p:nvSpPr>
        <p:spPr>
          <a:xfrm>
            <a:off x="7239000" y="2057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02. 政策导向的响应度评估模型</a:t>
            </a:r>
            <a:endParaRPr lang="en-US" sz="1100"/>
          </a:p>
        </p:txBody>
      </p:sp>
      <p:cxnSp>
        <p:nvCxnSpPr>
          <p:cNvPr id="14" name="Connector 14"/>
          <p:cNvCxnSpPr/>
          <p:nvPr/>
        </p:nvCxnSpPr>
        <p:spPr>
          <a:xfrm rot="-9167">
            <a:off x="6667508" y="2660650"/>
            <a:ext cx="47625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15" name="AutoShape 15"/>
          <p:cNvSpPr/>
          <p:nvPr/>
        </p:nvSpPr>
        <p:spPr>
          <a:xfrm>
            <a:off x="6667500" y="27940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独创「政策响应度」指标体系，将化肥减量率标准化为四色分级响应度，结合投入减量、产出保障、替代机制、经济效率、区域评估、促进建议六位一体全链条监测，自动识别标杆省份与风险省份</a:t>
            </a:r>
            <a:endParaRPr lang="en-US" sz="1100"/>
          </a:p>
        </p:txBody>
      </p:sp>
      <p:sp>
        <p:nvSpPr>
          <p:cNvPr id="16" name="AutoShape 16"/>
          <p:cNvSpPr/>
          <p:nvPr/>
        </p:nvSpPr>
        <p:spPr>
          <a:xfrm>
            <a:off x="762000" y="4254500"/>
            <a:ext cx="5270500" cy="19685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4254500"/>
            <a:ext cx="76200" cy="19685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445000"/>
            <a:ext cx="406400" cy="406400"/>
          </a:xfrm>
          <a:prstGeom prst="rect">
            <a:avLst/>
          </a:prstGeom>
        </p:spPr>
      </p:pic>
      <p:sp>
        <p:nvSpPr>
          <p:cNvPr id="19" name="AutoShape 19"/>
          <p:cNvSpPr/>
          <p:nvPr/>
        </p:nvSpPr>
        <p:spPr>
          <a:xfrm>
            <a:off x="1587500" y="44069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03. 全栈TypeScript工程化</a:t>
            </a:r>
            <a:endParaRPr lang="en-US" sz="1100"/>
          </a:p>
        </p:txBody>
      </p:sp>
      <p:cxnSp>
        <p:nvCxnSpPr>
          <p:cNvPr id="20" name="Connector 20"/>
          <p:cNvCxnSpPr/>
          <p:nvPr/>
        </p:nvCxnSpPr>
        <p:spPr>
          <a:xfrm rot="-9167">
            <a:off x="1016008" y="5010150"/>
            <a:ext cx="47625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21" name="AutoShape 21"/>
          <p:cNvSpPr/>
          <p:nvPr/>
        </p:nvSpPr>
        <p:spPr>
          <a:xfrm>
            <a:off x="1016000" y="51435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前端Vue 3 + TypeScript + Vite 5实现组件化开发与类型安全，后端Node.js + Express提供高性能数据聚合，全栈JavaScript/TypeScript统一技术栈降低维护成本。</a:t>
            </a:r>
            <a:endParaRPr lang="en-US" sz="1100"/>
          </a:p>
        </p:txBody>
      </p:sp>
      <p:sp>
        <p:nvSpPr>
          <p:cNvPr id="22" name="AutoShape 22"/>
          <p:cNvSpPr/>
          <p:nvPr/>
        </p:nvSpPr>
        <p:spPr>
          <a:xfrm>
            <a:off x="6413500" y="4254500"/>
            <a:ext cx="5270500" cy="19685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413500" y="4254500"/>
            <a:ext cx="76200" cy="19685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67500" y="4445000"/>
            <a:ext cx="406400" cy="406400"/>
          </a:xfrm>
          <a:prstGeom prst="rect">
            <a:avLst/>
          </a:prstGeom>
        </p:spPr>
      </p:pic>
      <p:sp>
        <p:nvSpPr>
          <p:cNvPr id="25" name="AutoShape 25"/>
          <p:cNvSpPr/>
          <p:nvPr/>
        </p:nvSpPr>
        <p:spPr>
          <a:xfrm>
            <a:off x="7239000" y="44069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04. 沉浸式田园视觉体验</a:t>
            </a:r>
            <a:endParaRPr lang="en-US" sz="1100"/>
          </a:p>
        </p:txBody>
      </p:sp>
      <p:cxnSp>
        <p:nvCxnSpPr>
          <p:cNvPr id="26" name="Connector 26"/>
          <p:cNvCxnSpPr/>
          <p:nvPr/>
        </p:nvCxnSpPr>
        <p:spPr>
          <a:xfrm rot="-9167">
            <a:off x="6667508" y="5010150"/>
            <a:ext cx="47625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27" name="AutoShape 27"/>
          <p:cNvSpPr/>
          <p:nvPr/>
        </p:nvSpPr>
        <p:spPr>
          <a:xfrm>
            <a:off x="6667500" y="51435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暖白马卡龙田园背景(#FFFBF5)叠加青绿/杏暖光斑与田园条纹纹理，全透明卡片仅保留微绿边框，Noto Serif SC思源宋体900字重深棕至绿色渐变标题，DIN Pro等宽数字字体，响应度四色分级体系，营造专业、自然且温暖的数据可视化体验。</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核心成果展示：投入减量与产出保障</a:t>
            </a:r>
            <a:endParaRPr lang="en-US" sz="1100"/>
          </a:p>
        </p:txBody>
      </p:sp>
      <p:sp>
        <p:nvSpPr>
          <p:cNvPr id="4" name="AutoShape 4"/>
          <p:cNvSpPr/>
          <p:nvPr/>
        </p:nvSpPr>
        <p:spPr>
          <a:xfrm>
            <a:off x="762000" y="1143000"/>
            <a:ext cx="1066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MODULE 1-2: INPUT REDUCTION &amp; OUTPUT SECURITY</a:t>
            </a:r>
            <a:endParaRPr lang="en-US" sz="1100"/>
          </a:p>
        </p:txBody>
      </p:sp>
      <p:cxnSp>
        <p:nvCxnSpPr>
          <p:cNvPr id="5" name="Connector 5"/>
          <p:cNvCxnSpPr/>
          <p:nvPr/>
        </p:nvCxnSpPr>
        <p:spPr>
          <a:xfrm rot="-4092">
            <a:off x="762004" y="1771650"/>
            <a:ext cx="10668000" cy="12700"/>
          </a:xfrm>
          <a:prstGeom prst="straightConnector1">
            <a:avLst/>
          </a:prstGeom>
          <a:solidFill>
            <a:srgbClr val="DEE0E3">
              <a:alpha val="100000"/>
            </a:srgbClr>
          </a:solidFill>
          <a:ln w="12700" cap="flat" cmpd="sng">
            <a:solidFill>
              <a:srgbClr val="556B2F">
                <a:alpha val="30000"/>
              </a:srgbClr>
            </a:solidFill>
            <a:prstDash val="solid"/>
            <a:round/>
            <a:headEnd type="none" w="med" len="med"/>
            <a:tailEnd type="none" w="med" len="med"/>
          </a:ln>
        </p:spPr>
      </p:cxnSp>
      <p:sp>
        <p:nvSpPr>
          <p:cNvPr id="6" name="AutoShape 6"/>
          <p:cNvSpPr/>
          <p:nvPr/>
        </p:nvSpPr>
        <p:spPr>
          <a:xfrm>
            <a:off x="762000" y="2159000"/>
            <a:ext cx="5270500" cy="1714500"/>
          </a:xfrm>
          <a:prstGeom prst="roundRect">
            <a:avLst>
              <a:gd name="adj" fmla="val 0"/>
            </a:avLst>
          </a:prstGeom>
          <a:solidFill>
            <a:srgbClr val="FFFFFF">
              <a:alpha val="60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349500"/>
            <a:ext cx="406400" cy="406400"/>
          </a:xfrm>
          <a:prstGeom prst="rect">
            <a:avLst/>
          </a:prstGeom>
        </p:spPr>
      </p:pic>
      <p:sp>
        <p:nvSpPr>
          <p:cNvPr id="8" name="AutoShape 8"/>
          <p:cNvSpPr/>
          <p:nvPr/>
        </p:nvSpPr>
        <p:spPr>
          <a:xfrm>
            <a:off x="1524000" y="2311400"/>
            <a:ext cx="425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模块1：投入减量响应度（中国省级地图 + 响应度四级着色）</a:t>
            </a:r>
            <a:endParaRPr lang="en-US" sz="1100"/>
          </a:p>
        </p:txBody>
      </p:sp>
      <p:cxnSp>
        <p:nvCxnSpPr>
          <p:cNvPr id="9" name="Connector 9"/>
          <p:cNvCxnSpPr/>
          <p:nvPr/>
        </p:nvCxnSpPr>
        <p:spPr>
          <a:xfrm rot="-8929">
            <a:off x="952508" y="2851150"/>
            <a:ext cx="4889500" cy="12700"/>
          </a:xfrm>
          <a:prstGeom prst="straightConnector1">
            <a:avLst/>
          </a:prstGeom>
          <a:solidFill>
            <a:srgbClr val="DEE0E3">
              <a:alpha val="100000"/>
            </a:srgbClr>
          </a:solidFill>
          <a:ln w="12700" cap="flat" cmpd="sng">
            <a:solidFill>
              <a:srgbClr val="556B2F">
                <a:alpha val="15000"/>
              </a:srgbClr>
            </a:solidFill>
            <a:prstDash val="dash"/>
            <a:round/>
            <a:headEnd type="none" w="med" len="med"/>
            <a:tailEnd type="none" w="med" len="med"/>
          </a:ln>
        </p:spPr>
      </p:cxnSp>
      <p:sp>
        <p:nvSpPr>
          <p:cNvPr id="10" name="AutoShape 10"/>
          <p:cNvSpPr/>
          <p:nvPr/>
        </p:nvSpPr>
        <p:spPr>
          <a:xfrm>
            <a:off x="952500" y="29845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中国省级地图(ECharts + DataV GeoJSON)，展示31省化肥减量率与政策响应度空间分布。四色分级：高度响应(≥1.5,绿)、正常(1.0-1.5,蓝)、弱(0.5-1.0,橙)、未响应(&lt;0.5,红)。年份切换触发冲击波动画(以北京为原点，声呐波纹3.2秒逐省点亮)。hover金色粗框+光晕+省名标签。底部图例可点击toggle筛选省份。滚轮缩放0.8×-8×+拖拽平移。</a:t>
            </a:r>
            <a:endParaRPr lang="en-US" sz="1100"/>
          </a:p>
        </p:txBody>
      </p:sp>
      <p:sp>
        <p:nvSpPr>
          <p:cNvPr id="11" name="AutoShape 11"/>
          <p:cNvSpPr/>
          <p:nvPr/>
        </p:nvSpPr>
        <p:spPr>
          <a:xfrm>
            <a:off x="6286500" y="2159000"/>
            <a:ext cx="5270500" cy="1714500"/>
          </a:xfrm>
          <a:prstGeom prst="roundRect">
            <a:avLst>
              <a:gd name="adj" fmla="val 0"/>
            </a:avLst>
          </a:prstGeom>
          <a:solidFill>
            <a:srgbClr val="FFFFFF">
              <a:alpha val="60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349500"/>
            <a:ext cx="406400" cy="406400"/>
          </a:xfrm>
          <a:prstGeom prst="rect">
            <a:avLst/>
          </a:prstGeom>
        </p:spPr>
      </p:pic>
      <p:sp>
        <p:nvSpPr>
          <p:cNvPr id="13" name="AutoShape 13"/>
          <p:cNvSpPr/>
          <p:nvPr/>
        </p:nvSpPr>
        <p:spPr>
          <a:xfrm>
            <a:off x="7048500" y="2311400"/>
            <a:ext cx="425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模块2：产出保障响应度（全国双轴折线图）</a:t>
            </a:r>
            <a:endParaRPr lang="en-US" sz="1100"/>
          </a:p>
        </p:txBody>
      </p:sp>
      <p:cxnSp>
        <p:nvCxnSpPr>
          <p:cNvPr id="14" name="Connector 14"/>
          <p:cNvCxnSpPr/>
          <p:nvPr/>
        </p:nvCxnSpPr>
        <p:spPr>
          <a:xfrm rot="-8929">
            <a:off x="6477008" y="2851150"/>
            <a:ext cx="4889500" cy="12700"/>
          </a:xfrm>
          <a:prstGeom prst="straightConnector1">
            <a:avLst/>
          </a:prstGeom>
          <a:solidFill>
            <a:srgbClr val="DEE0E3">
              <a:alpha val="100000"/>
            </a:srgbClr>
          </a:solidFill>
          <a:ln w="12700" cap="flat" cmpd="sng">
            <a:solidFill>
              <a:srgbClr val="556B2F">
                <a:alpha val="15000"/>
              </a:srgbClr>
            </a:solidFill>
            <a:prstDash val="dash"/>
            <a:round/>
            <a:headEnd type="none" w="med" len="med"/>
            <a:tailEnd type="none" w="med" len="med"/>
          </a:ln>
        </p:spPr>
      </p:cxnSp>
      <p:sp>
        <p:nvSpPr>
          <p:cNvPr id="15" name="AutoShape 15"/>
          <p:cNvSpPr/>
          <p:nvPr/>
        </p:nvSpPr>
        <p:spPr>
          <a:xfrm>
            <a:off x="6477000" y="29845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双轴折线图展示全国化肥总量(红色↓，左轴)与粮食产量(绿色↑，右轴)的反向趋势，X轴2016-2024，markPoint标注最大/最小值，右轴单位格式化为「亿」，底部洞察自动识别未响应危险省份或减量增产双赢省份。</a:t>
            </a:r>
            <a:endParaRPr lang="en-US" sz="1100"/>
          </a:p>
        </p:txBody>
      </p:sp>
      <p:sp>
        <p:nvSpPr>
          <p:cNvPr id="16" name="AutoShape 16"/>
          <p:cNvSpPr/>
          <p:nvPr/>
        </p:nvSpPr>
        <p:spPr>
          <a:xfrm>
            <a:off x="762000" y="4127500"/>
            <a:ext cx="5270500" cy="1714500"/>
          </a:xfrm>
          <a:prstGeom prst="roundRect">
            <a:avLst>
              <a:gd name="adj" fmla="val 0"/>
            </a:avLst>
          </a:prstGeom>
          <a:solidFill>
            <a:srgbClr val="FFFFFF">
              <a:alpha val="60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318000"/>
            <a:ext cx="406400" cy="406400"/>
          </a:xfrm>
          <a:prstGeom prst="rect">
            <a:avLst/>
          </a:prstGeom>
        </p:spPr>
      </p:pic>
      <p:sp>
        <p:nvSpPr>
          <p:cNvPr id="18" name="AutoShape 18"/>
          <p:cNvSpPr/>
          <p:nvPr/>
        </p:nvSpPr>
        <p:spPr>
          <a:xfrm>
            <a:off x="1524000" y="4279900"/>
            <a:ext cx="425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模块3：替代机制响应度（堆叠面积图 + 机械折线）</a:t>
            </a:r>
            <a:endParaRPr lang="en-US" sz="1100"/>
          </a:p>
        </p:txBody>
      </p:sp>
      <p:cxnSp>
        <p:nvCxnSpPr>
          <p:cNvPr id="19" name="Connector 19"/>
          <p:cNvCxnSpPr/>
          <p:nvPr/>
        </p:nvCxnSpPr>
        <p:spPr>
          <a:xfrm rot="-8929">
            <a:off x="952508" y="4819650"/>
            <a:ext cx="4889500" cy="12700"/>
          </a:xfrm>
          <a:prstGeom prst="straightConnector1">
            <a:avLst/>
          </a:prstGeom>
          <a:solidFill>
            <a:srgbClr val="DEE0E3">
              <a:alpha val="100000"/>
            </a:srgbClr>
          </a:solidFill>
          <a:ln w="12700" cap="flat" cmpd="sng">
            <a:solidFill>
              <a:srgbClr val="556B2F">
                <a:alpha val="15000"/>
              </a:srgbClr>
            </a:solidFill>
            <a:prstDash val="dash"/>
            <a:round/>
            <a:headEnd type="none" w="med" len="med"/>
            <a:tailEnd type="none" w="med" len="med"/>
          </a:ln>
        </p:spPr>
      </p:cxnSp>
      <p:sp>
        <p:nvSpPr>
          <p:cNvPr id="20" name="AutoShape 20"/>
          <p:cNvSpPr/>
          <p:nvPr/>
        </p:nvSpPr>
        <p:spPr>
          <a:xfrm>
            <a:off x="952500" y="49530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堆叠面积图展示2016-2024年化肥结构变化(氮肥红/磷肥金/钾肥蓝/复合肥绿)；叠加机械总动力折线(右Y轴万千瓦，蓝色菱形标记)，z:10确保折线在面积层上方无遮挡，ECharts内置图例可toggle各系列显隐。</a:t>
            </a:r>
            <a:endParaRPr lang="en-US" sz="1100"/>
          </a:p>
        </p:txBody>
      </p:sp>
      <p:sp>
        <p:nvSpPr>
          <p:cNvPr id="21" name="AutoShape 21"/>
          <p:cNvSpPr/>
          <p:nvPr/>
        </p:nvSpPr>
        <p:spPr>
          <a:xfrm>
            <a:off x="6286500" y="4127500"/>
            <a:ext cx="5270500" cy="1714500"/>
          </a:xfrm>
          <a:prstGeom prst="roundRect">
            <a:avLst>
              <a:gd name="adj" fmla="val 0"/>
            </a:avLst>
          </a:prstGeom>
          <a:solidFill>
            <a:srgbClr val="FFFFFF">
              <a:alpha val="60000"/>
            </a:srgbClr>
          </a:solidFill>
          <a:ln w="12700" cap="flat" cmpd="sng">
            <a:solidFill>
              <a:srgbClr val="556B2F">
                <a:alpha val="2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4318000"/>
            <a:ext cx="406400" cy="406400"/>
          </a:xfrm>
          <a:prstGeom prst="rect">
            <a:avLst/>
          </a:prstGeom>
        </p:spPr>
      </p:pic>
      <p:sp>
        <p:nvSpPr>
          <p:cNvPr id="23" name="AutoShape 23"/>
          <p:cNvSpPr/>
          <p:nvPr/>
        </p:nvSpPr>
        <p:spPr>
          <a:xfrm>
            <a:off x="7048500" y="4279900"/>
            <a:ext cx="425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数据洞察与智能建议</a:t>
            </a:r>
            <a:endParaRPr lang="en-US" sz="1100"/>
          </a:p>
        </p:txBody>
      </p:sp>
      <p:cxnSp>
        <p:nvCxnSpPr>
          <p:cNvPr id="24" name="Connector 24"/>
          <p:cNvCxnSpPr/>
          <p:nvPr/>
        </p:nvCxnSpPr>
        <p:spPr>
          <a:xfrm rot="-8929">
            <a:off x="6477008" y="4819650"/>
            <a:ext cx="4889500" cy="12700"/>
          </a:xfrm>
          <a:prstGeom prst="straightConnector1">
            <a:avLst/>
          </a:prstGeom>
          <a:solidFill>
            <a:srgbClr val="DEE0E3">
              <a:alpha val="100000"/>
            </a:srgbClr>
          </a:solidFill>
          <a:ln w="12700" cap="flat" cmpd="sng">
            <a:solidFill>
              <a:srgbClr val="556B2F">
                <a:alpha val="15000"/>
              </a:srgbClr>
            </a:solidFill>
            <a:prstDash val="dash"/>
            <a:round/>
            <a:headEnd type="none" w="med" len="med"/>
            <a:tailEnd type="none" w="med" len="med"/>
          </a:ln>
        </p:spPr>
      </p:cxnSp>
      <p:sp>
        <p:nvSpPr>
          <p:cNvPr id="25" name="AutoShape 25"/>
          <p:cNvSpPr/>
          <p:nvPr/>
        </p:nvSpPr>
        <p:spPr>
          <a:xfrm>
            <a:off x="6477000" y="49530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基于响应度四级分类自动识别高度响应标杆省份与未响应风险省份</a:t>
            </a:r>
            <a:endParaRPr lang="en-US" sz="1100"/>
          </a:p>
        </p:txBody>
      </p:sp>
      <p:sp>
        <p:nvSpPr>
          <p:cNvPr id="26" name="AutoShape 26"/>
          <p:cNvSpPr/>
          <p:nvPr/>
        </p:nvSpPr>
        <p:spPr>
          <a:xfrm>
            <a:off x="762000" y="5969000"/>
            <a:ext cx="5270500" cy="6985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89000" y="6096000"/>
            <a:ext cx="304800" cy="304800"/>
          </a:xfrm>
          <a:prstGeom prst="rect">
            <a:avLst/>
          </a:prstGeom>
        </p:spPr>
      </p:pic>
      <p:sp>
        <p:nvSpPr>
          <p:cNvPr id="28" name="AutoShape 28"/>
          <p:cNvSpPr/>
          <p:nvPr/>
        </p:nvSpPr>
        <p:spPr>
          <a:xfrm>
            <a:off x="1333500" y="6045200"/>
            <a:ext cx="45720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地图hover弹窗显示省名+响应度+等级标签，图表hover查看具体数值，所有图表支持响应式自适应布局。</a:t>
            </a:r>
            <a:endParaRPr lang="en-US" sz="1100"/>
          </a:p>
        </p:txBody>
      </p:sp>
      <p:sp>
        <p:nvSpPr>
          <p:cNvPr id="29" name="AutoShape 29"/>
          <p:cNvSpPr/>
          <p:nvPr/>
        </p:nvSpPr>
        <p:spPr>
          <a:xfrm>
            <a:off x="6286500" y="5969000"/>
            <a:ext cx="5270500" cy="6985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13500" y="6096000"/>
            <a:ext cx="304800" cy="304800"/>
          </a:xfrm>
          <a:prstGeom prst="rect">
            <a:avLst/>
          </a:prstGeom>
        </p:spPr>
      </p:pic>
      <p:sp>
        <p:nvSpPr>
          <p:cNvPr id="31" name="AutoShape 31"/>
          <p:cNvSpPr/>
          <p:nvPr/>
        </p:nvSpPr>
        <p:spPr>
          <a:xfrm>
            <a:off x="6858000" y="6045200"/>
            <a:ext cx="45720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视觉设计：Noto Serif SC标题字体 + DIN Pro等宽数字字体，四色响应度分级，马卡龙田园暖白底(#FFFBF5)+全透明卡片+田园光斑纹理。</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核心成果展示：经济、效率与促进建议</a:t>
            </a:r>
            <a:endParaRPr lang="en-US" sz="1100"/>
          </a:p>
        </p:txBody>
      </p:sp>
      <p:sp>
        <p:nvSpPr>
          <p:cNvPr id="4" name="AutoShape 4"/>
          <p:cNvSpPr/>
          <p:nvPr/>
        </p:nvSpPr>
        <p:spPr>
          <a:xfrm>
            <a:off x="762000" y="2032000"/>
            <a:ext cx="5270500" cy="16510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76200" cy="16510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22500"/>
            <a:ext cx="457200" cy="457200"/>
          </a:xfrm>
          <a:prstGeom prst="rect">
            <a:avLst/>
          </a:prstGeom>
        </p:spPr>
      </p:pic>
      <p:sp>
        <p:nvSpPr>
          <p:cNvPr id="7" name="AutoShape 7"/>
          <p:cNvSpPr/>
          <p:nvPr/>
        </p:nvSpPr>
        <p:spPr>
          <a:xfrm>
            <a:off x="1651000" y="2184400"/>
            <a:ext cx="412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模块4：经济响应度（亩均双轴柱状图）</a:t>
            </a:r>
            <a:endParaRPr lang="en-US" sz="1100"/>
          </a:p>
        </p:txBody>
      </p:sp>
      <p:cxnSp>
        <p:nvCxnSpPr>
          <p:cNvPr id="8" name="Connector 8"/>
          <p:cNvCxnSpPr/>
          <p:nvPr/>
        </p:nvCxnSpPr>
        <p:spPr>
          <a:xfrm rot="-9167">
            <a:off x="1016008" y="2787650"/>
            <a:ext cx="47625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9" name="AutoShape 9"/>
          <p:cNvSpPr/>
          <p:nvPr/>
        </p:nvSpPr>
        <p:spPr>
          <a:xfrm>
            <a:off x="1016000" y="2921000"/>
            <a:ext cx="476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双轴分组柱状图：左轴亩均施肥量(kg/亩，红色) vs 右轴亩均产值(元/亩，绿色)。数据来自独立API端点(/api/national-economy)使用全国汇总数据。公式：亩施肥量= 化肥/ 播种面积x666.67，亩产值= 总产值/ 播种面积x6666.67。图表图例置于右上角，限高260px，底部洞察量化对比化肥减量与产值增收。</a:t>
            </a:r>
            <a:endParaRPr lang="en-US" sz="1100"/>
          </a:p>
        </p:txBody>
      </p:sp>
      <p:sp>
        <p:nvSpPr>
          <p:cNvPr id="10" name="AutoShape 10"/>
          <p:cNvSpPr/>
          <p:nvPr/>
        </p:nvSpPr>
        <p:spPr>
          <a:xfrm>
            <a:off x="6159500" y="2032000"/>
            <a:ext cx="5270500" cy="16510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159500" y="2032000"/>
            <a:ext cx="76200" cy="16510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3500" y="2222500"/>
            <a:ext cx="457200" cy="457200"/>
          </a:xfrm>
          <a:prstGeom prst="rect">
            <a:avLst/>
          </a:prstGeom>
        </p:spPr>
      </p:pic>
      <p:sp>
        <p:nvSpPr>
          <p:cNvPr id="13" name="AutoShape 13"/>
          <p:cNvSpPr/>
          <p:nvPr/>
        </p:nvSpPr>
        <p:spPr>
          <a:xfrm>
            <a:off x="7048500" y="2184400"/>
            <a:ext cx="412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模块5：效率响应度（七区域雷达图）</a:t>
            </a:r>
            <a:endParaRPr lang="en-US" sz="1100"/>
          </a:p>
        </p:txBody>
      </p:sp>
      <p:cxnSp>
        <p:nvCxnSpPr>
          <p:cNvPr id="14" name="Connector 14"/>
          <p:cNvCxnSpPr/>
          <p:nvPr/>
        </p:nvCxnSpPr>
        <p:spPr>
          <a:xfrm rot="-9167">
            <a:off x="6413508" y="2787650"/>
            <a:ext cx="47625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15" name="AutoShape 15"/>
          <p:cNvSpPr/>
          <p:nvPr/>
        </p:nvSpPr>
        <p:spPr>
          <a:xfrm>
            <a:off x="6413500" y="2921000"/>
            <a:ext cx="476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七大区域(东北/华北/华东/华中/华南/西南/西北)六维雷达图。六项指标0-100标准化后取各省均值：肥料利用率(吨粮/吨肥)、养分留存率(复合肥占比)、节水效率(灌溉效率提升率)、面源污染降幅(化肥总减量率)、土壤酸化改善(氮肥减量率)、板结修复(复合肥占比提升幅度)。七色区分区域，底部自定义图例可点击toggle区域显隐。</a:t>
            </a:r>
            <a:endParaRPr lang="en-US" sz="1100"/>
          </a:p>
        </p:txBody>
      </p:sp>
      <p:sp>
        <p:nvSpPr>
          <p:cNvPr id="16" name="AutoShape 16"/>
          <p:cNvSpPr/>
          <p:nvPr/>
        </p:nvSpPr>
        <p:spPr>
          <a:xfrm>
            <a:off x="762000" y="3937000"/>
            <a:ext cx="5270500" cy="16510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3937000"/>
            <a:ext cx="76200" cy="16510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127500"/>
            <a:ext cx="457200" cy="457200"/>
          </a:xfrm>
          <a:prstGeom prst="rect">
            <a:avLst/>
          </a:prstGeom>
        </p:spPr>
      </p:pic>
      <p:sp>
        <p:nvSpPr>
          <p:cNvPr id="19" name="AutoShape 19"/>
          <p:cNvSpPr/>
          <p:nvPr/>
        </p:nvSpPr>
        <p:spPr>
          <a:xfrm>
            <a:off x="1651000" y="4089400"/>
            <a:ext cx="412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模块6：促进建议（仪表盘+智能建议）</a:t>
            </a:r>
            <a:endParaRPr lang="en-US" sz="1100"/>
          </a:p>
        </p:txBody>
      </p:sp>
      <p:cxnSp>
        <p:nvCxnSpPr>
          <p:cNvPr id="20" name="Connector 20"/>
          <p:cNvCxnSpPr/>
          <p:nvPr/>
        </p:nvCxnSpPr>
        <p:spPr>
          <a:xfrm rot="-9167">
            <a:off x="1016008" y="4692650"/>
            <a:ext cx="47625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21" name="AutoShape 21"/>
          <p:cNvSpPr/>
          <p:nvPr/>
        </p:nvSpPr>
        <p:spPr>
          <a:xfrm>
            <a:off x="1016000" y="4826000"/>
            <a:ext cx="476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31省色块网格(10列紧凑布局)，每省显示省名+响应度数值，按响应度从高到低排列，四级着色(绿/蓝/橙/红) + 综合响应率百分比。三条动态建议由后端API根据levelCounts自动生成，区分⚠警告(红色)、📢推动(橙色)、✅推广(绿色)三种类型。</a:t>
            </a:r>
            <a:endParaRPr lang="en-US" sz="1100"/>
          </a:p>
        </p:txBody>
      </p:sp>
      <p:sp>
        <p:nvSpPr>
          <p:cNvPr id="22" name="AutoShape 22"/>
          <p:cNvSpPr/>
          <p:nvPr/>
        </p:nvSpPr>
        <p:spPr>
          <a:xfrm>
            <a:off x="6159500" y="3937000"/>
            <a:ext cx="5270500" cy="16510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159500" y="3937000"/>
            <a:ext cx="76200" cy="16510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13500" y="4127500"/>
            <a:ext cx="457200" cy="457200"/>
          </a:xfrm>
          <a:prstGeom prst="rect">
            <a:avLst/>
          </a:prstGeom>
        </p:spPr>
      </p:pic>
      <p:sp>
        <p:nvSpPr>
          <p:cNvPr id="25" name="AutoShape 25"/>
          <p:cNvSpPr/>
          <p:nvPr/>
        </p:nvSpPr>
        <p:spPr>
          <a:xfrm>
            <a:off x="7048500" y="4089400"/>
            <a:ext cx="412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实时数据指标总览</a:t>
            </a:r>
            <a:endParaRPr lang="en-US" sz="1100"/>
          </a:p>
        </p:txBody>
      </p:sp>
      <p:cxnSp>
        <p:nvCxnSpPr>
          <p:cNvPr id="26" name="Connector 26"/>
          <p:cNvCxnSpPr/>
          <p:nvPr/>
        </p:nvCxnSpPr>
        <p:spPr>
          <a:xfrm rot="-9167">
            <a:off x="6413508" y="4692650"/>
            <a:ext cx="47625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27" name="AutoShape 27"/>
          <p:cNvSpPr/>
          <p:nvPr/>
        </p:nvSpPr>
        <p:spPr>
          <a:xfrm>
            <a:off x="6413500" y="4826000"/>
            <a:ext cx="476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全国化肥减量率3.91%，粮食增产率3.46%，综合响应率41.9%。12,284条有效数据记录，覆盖31省14大类指标。当前高度响应省份：湖南、广西、贵州、安徽、重庆、云南。</a:t>
            </a:r>
            <a:endParaRPr lang="en-US" sz="1100"/>
          </a:p>
        </p:txBody>
      </p:sp>
      <p:sp>
        <p:nvSpPr>
          <p:cNvPr id="28" name="AutoShape 28"/>
          <p:cNvSpPr/>
          <p:nvPr/>
        </p:nvSpPr>
        <p:spPr>
          <a:xfrm>
            <a:off x="762000" y="5842000"/>
            <a:ext cx="10668000" cy="762000"/>
          </a:xfrm>
          <a:prstGeom prst="roundRect">
            <a:avLst>
              <a:gd name="adj" fmla="val 0"/>
            </a:avLst>
          </a:prstGeom>
          <a:solidFill>
            <a:srgbClr val="556B2F">
              <a:alpha val="15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1016000" y="5943600"/>
            <a:ext cx="10160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核心价值：六大模块形成完整的数据监测→分析→诊断→建议闭环，从多维度评估各省农业绿色转型的政策响应程度，为精准施策提供全链条的数据可视化支持。</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核心成果展示：综合数据指标看板</a:t>
            </a:r>
            <a:endParaRPr lang="en-US" sz="1100"/>
          </a:p>
        </p:txBody>
      </p:sp>
      <p:sp>
        <p:nvSpPr>
          <p:cNvPr id="4" name="AutoShape 4"/>
          <p:cNvSpPr/>
          <p:nvPr/>
        </p:nvSpPr>
        <p:spPr>
          <a:xfrm>
            <a:off x="762000" y="1905000"/>
            <a:ext cx="3378200" cy="2921000"/>
          </a:xfrm>
          <a:prstGeom prst="roundRect">
            <a:avLst>
              <a:gd name="adj" fmla="val 0"/>
            </a:avLst>
          </a:prstGeom>
          <a:solidFill>
            <a:srgbClr val="556B2F">
              <a:alpha val="8000"/>
            </a:srgbClr>
          </a:solidFill>
          <a:ln w="12700" cap="flat" cmpd="sng">
            <a:solidFill>
              <a:srgbClr val="556B2F">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159000"/>
            <a:ext cx="457200" cy="457200"/>
          </a:xfrm>
          <a:prstGeom prst="rect">
            <a:avLst/>
          </a:prstGeom>
        </p:spPr>
      </p:pic>
      <p:sp>
        <p:nvSpPr>
          <p:cNvPr id="6" name="AutoShape 6"/>
          <p:cNvSpPr/>
          <p:nvPr/>
        </p:nvSpPr>
        <p:spPr>
          <a:xfrm>
            <a:off x="1587500" y="2133600"/>
            <a:ext cx="22987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数据规模与覆盖</a:t>
            </a:r>
            <a:endParaRPr lang="en-US" sz="1100"/>
          </a:p>
        </p:txBody>
      </p:sp>
      <p:cxnSp>
        <p:nvCxnSpPr>
          <p:cNvPr id="7" name="Connector 7"/>
          <p:cNvCxnSpPr/>
          <p:nvPr/>
        </p:nvCxnSpPr>
        <p:spPr>
          <a:xfrm rot="-15211">
            <a:off x="1016014" y="2851150"/>
            <a:ext cx="28702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8" name="AutoShape 8"/>
          <p:cNvSpPr/>
          <p:nvPr/>
        </p:nvSpPr>
        <p:spPr>
          <a:xfrm>
            <a:off x="1016000" y="3048000"/>
            <a:ext cx="28702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4B4B"/>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项目累计处理139个CSV文件，沉淀12,284条有效数据记录至MySQL数据库。覆盖31个省级行政区、14大类核心指标、2016-2024年时间跨度，形成完整的农业数据资产体系。</a:t>
            </a:r>
            <a:endParaRPr lang="en-US" sz="1100"/>
          </a:p>
        </p:txBody>
      </p:sp>
      <p:sp>
        <p:nvSpPr>
          <p:cNvPr id="9" name="AutoShape 9"/>
          <p:cNvSpPr/>
          <p:nvPr/>
        </p:nvSpPr>
        <p:spPr>
          <a:xfrm>
            <a:off x="4394200" y="1905000"/>
            <a:ext cx="3378200" cy="2921000"/>
          </a:xfrm>
          <a:prstGeom prst="roundRect">
            <a:avLst>
              <a:gd name="adj" fmla="val 0"/>
            </a:avLst>
          </a:prstGeom>
          <a:solidFill>
            <a:srgbClr val="556B2F">
              <a:alpha val="8000"/>
            </a:srgbClr>
          </a:solidFill>
          <a:ln w="12700" cap="flat" cmpd="sng">
            <a:solidFill>
              <a:srgbClr val="556B2F">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2159000"/>
            <a:ext cx="457200" cy="457200"/>
          </a:xfrm>
          <a:prstGeom prst="rect">
            <a:avLst/>
          </a:prstGeom>
        </p:spPr>
      </p:pic>
      <p:sp>
        <p:nvSpPr>
          <p:cNvPr id="11" name="AutoShape 11"/>
          <p:cNvSpPr/>
          <p:nvPr/>
        </p:nvSpPr>
        <p:spPr>
          <a:xfrm>
            <a:off x="5219700" y="2133600"/>
            <a:ext cx="22987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核心指标看板</a:t>
            </a:r>
            <a:endParaRPr lang="en-US" sz="1100"/>
          </a:p>
        </p:txBody>
      </p:sp>
      <p:cxnSp>
        <p:nvCxnSpPr>
          <p:cNvPr id="12" name="Connector 12"/>
          <p:cNvCxnSpPr/>
          <p:nvPr/>
        </p:nvCxnSpPr>
        <p:spPr>
          <a:xfrm rot="-15211">
            <a:off x="4648214" y="2851150"/>
            <a:ext cx="28702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13" name="AutoShape 13"/>
          <p:cNvSpPr/>
          <p:nvPr/>
        </p:nvSpPr>
        <p:spPr>
          <a:xfrm>
            <a:off x="4648200" y="3048000"/>
            <a:ext cx="28702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4B4B"/>
                </a:solidFill>
                <a:latin typeface="Noto Sans SC" panose="020B0200000000000000" charset="-122"/>
                <a:ea typeface="Noto Sans SC" panose="020B0200000000000000" charset="-122"/>
                <a:cs typeface="Noto Sans SC" panose="020B0200000000000000" charset="-122"/>
                <a:sym typeface="Noto Sans SC" panose="020B0200000000000000" charset="-122"/>
              </a:rPr>
              <a:t>全国化肥减量率3.91%，粮食增产率3.46%，化肥结构持续优化(K肥占比从10.1%升至11.9%，复合肥稳中有升)。响应度分布：高度响应6省(19.4%)、正常响应7省(22.6%)、弱响应9省(29.0%)、未响应9省(29.0%)。</a:t>
            </a:r>
            <a:endParaRPr lang="en-US" sz="1100"/>
          </a:p>
        </p:txBody>
      </p:sp>
      <p:sp>
        <p:nvSpPr>
          <p:cNvPr id="14" name="AutoShape 14"/>
          <p:cNvSpPr/>
          <p:nvPr/>
        </p:nvSpPr>
        <p:spPr>
          <a:xfrm>
            <a:off x="8026400" y="1905000"/>
            <a:ext cx="3378200" cy="2921000"/>
          </a:xfrm>
          <a:prstGeom prst="roundRect">
            <a:avLst>
              <a:gd name="adj" fmla="val 0"/>
            </a:avLst>
          </a:prstGeom>
          <a:solidFill>
            <a:srgbClr val="556B2F">
              <a:alpha val="8000"/>
            </a:srgbClr>
          </a:solidFill>
          <a:ln w="12700" cap="flat" cmpd="sng">
            <a:solidFill>
              <a:srgbClr val="556B2F">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80400" y="2159000"/>
            <a:ext cx="457200" cy="457200"/>
          </a:xfrm>
          <a:prstGeom prst="rect">
            <a:avLst/>
          </a:prstGeom>
        </p:spPr>
      </p:pic>
      <p:sp>
        <p:nvSpPr>
          <p:cNvPr id="16" name="AutoShape 16"/>
          <p:cNvSpPr/>
          <p:nvPr/>
        </p:nvSpPr>
        <p:spPr>
          <a:xfrm>
            <a:off x="8851900" y="2133600"/>
            <a:ext cx="22987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技术工程指标</a:t>
            </a:r>
            <a:endParaRPr lang="en-US" sz="1100"/>
          </a:p>
        </p:txBody>
      </p:sp>
      <p:cxnSp>
        <p:nvCxnSpPr>
          <p:cNvPr id="17" name="Connector 17"/>
          <p:cNvCxnSpPr/>
          <p:nvPr/>
        </p:nvCxnSpPr>
        <p:spPr>
          <a:xfrm rot="-15211">
            <a:off x="8280414" y="2851150"/>
            <a:ext cx="28702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18" name="AutoShape 18"/>
          <p:cNvSpPr/>
          <p:nvPr/>
        </p:nvSpPr>
        <p:spPr>
          <a:xfrm>
            <a:off x="8280400" y="3048000"/>
            <a:ext cx="28702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4B4B"/>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前端Vue 3 + TypeScript + Vite 5工程化开发，后端Node.js + Express + MySQL 8.0数据服务，全栈JavaScript/TypeScript统一技术栈。ECharts 5.5驱动全部图表渲染，DataV GeoJSON CDN动态加载中国省级边界数据。</a:t>
            </a:r>
            <a:endParaRPr lang="en-US" sz="1100"/>
          </a:p>
        </p:txBody>
      </p:sp>
      <p:sp>
        <p:nvSpPr>
          <p:cNvPr id="19" name="AutoShape 19"/>
          <p:cNvSpPr/>
          <p:nvPr/>
        </p:nvSpPr>
        <p:spPr>
          <a:xfrm>
            <a:off x="762000" y="5334000"/>
            <a:ext cx="10668000" cy="1079500"/>
          </a:xfrm>
          <a:prstGeom prst="roundRect">
            <a:avLst>
              <a:gd name="adj" fmla="val 0"/>
            </a:avLst>
          </a:prstGeom>
          <a:solidFill>
            <a:srgbClr val="556B2F">
              <a:alpha val="15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562600"/>
            <a:ext cx="508000" cy="508000"/>
          </a:xfrm>
          <a:prstGeom prst="rect">
            <a:avLst/>
          </a:prstGeom>
        </p:spPr>
      </p:pic>
      <p:sp>
        <p:nvSpPr>
          <p:cNvPr id="21" name="AutoShape 21"/>
          <p:cNvSpPr/>
          <p:nvPr/>
        </p:nvSpPr>
        <p:spPr>
          <a:xfrm>
            <a:off x="1778000" y="5461000"/>
            <a:ext cx="939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体系价值：构建了一套科学、可量化的农业绿色转型监测评估体系，不仅实现了对各省化肥减量增效成效的客观呈现，更能精准识别政策响应差异与改进空间，为决策者提供从宏观到微观的全维度数据支撑。</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540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4" name="AutoShape 4"/>
          <p:cNvSpPr/>
          <p:nvPr/>
        </p:nvSpPr>
        <p:spPr>
          <a:xfrm>
            <a:off x="0" y="4318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团队成员及研究基础</a:t>
            </a:r>
            <a:endParaRPr lang="en-US" sz="1100"/>
          </a:p>
        </p:txBody>
      </p:sp>
      <p:sp>
        <p:nvSpPr>
          <p:cNvPr id="5" name="AutoShape 5"/>
          <p:cNvSpPr/>
          <p:nvPr/>
        </p:nvSpPr>
        <p:spPr>
          <a:xfrm>
            <a:off x="0" y="5588000"/>
            <a:ext cx="1219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556B2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TEAM &amp; FOUNDATION</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团队成员分工</a:t>
            </a:r>
            <a:endParaRPr lang="en-US" sz="1100"/>
          </a:p>
        </p:txBody>
      </p:sp>
      <p:pic>
        <p:nvPicPr>
          <p:cNvPr id="4" name="Picture 4"/>
          <p:cNvPicPr>
            <a:picLocks noChangeAspect="1"/>
          </p:cNvPicPr>
          <p:nvPr/>
        </p:nvPicPr>
        <p:blipFill>
          <a:blip r:embed="rId2"/>
          <a:srcRect t="16650" b="16650"/>
          <a:stretch>
            <a:fillRect/>
          </a:stretch>
        </p:blipFill>
        <p:spPr>
          <a:xfrm>
            <a:off x="762000" y="1778000"/>
            <a:ext cx="3556000" cy="3556000"/>
          </a:xfrm>
          <a:prstGeom prst="rect">
            <a:avLst/>
          </a:prstGeom>
          <a:noFill/>
          <a:ln w="12700" cap="flat" cmpd="sng">
            <a:solidFill>
              <a:srgbClr val="556B2F">
                <a:alpha val="30000"/>
              </a:srgbClr>
            </a:solidFill>
            <a:prstDash val="solid"/>
            <a:round/>
          </a:ln>
        </p:spPr>
      </p:pic>
      <p:sp>
        <p:nvSpPr>
          <p:cNvPr id="5" name="AutoShape 5"/>
          <p:cNvSpPr/>
          <p:nvPr/>
        </p:nvSpPr>
        <p:spPr>
          <a:xfrm>
            <a:off x="762000" y="5588000"/>
            <a:ext cx="355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团队成员紧密协作，发挥各自专业优势，以严谨的态度和高效的执行力，保障项目全流程的顺利推进。</a:t>
            </a:r>
            <a:endParaRPr lang="en-US" sz="1100"/>
          </a:p>
        </p:txBody>
      </p:sp>
      <p:cxnSp>
        <p:nvCxnSpPr>
          <p:cNvPr id="6" name="Connector 6"/>
          <p:cNvCxnSpPr/>
          <p:nvPr/>
        </p:nvCxnSpPr>
        <p:spPr>
          <a:xfrm rot="5390177">
            <a:off x="2603500" y="3994159"/>
            <a:ext cx="4445000" cy="12700"/>
          </a:xfrm>
          <a:prstGeom prst="straightConnector1">
            <a:avLst/>
          </a:prstGeom>
          <a:solidFill>
            <a:srgbClr val="DEE0E3">
              <a:alpha val="100000"/>
            </a:srgbClr>
          </a:solidFill>
          <a:ln w="12700" cap="flat" cmpd="sng">
            <a:solidFill>
              <a:srgbClr val="556B2F">
                <a:alpha val="20000"/>
              </a:srgbClr>
            </a:solidFill>
            <a:prstDash val="dash"/>
            <a:round/>
            <a:headEnd type="none" w="med" len="med"/>
            <a:tailEnd type="none" w="med" len="med"/>
          </a:ln>
        </p:spPr>
      </p:cxnSp>
      <p:sp>
        <p:nvSpPr>
          <p:cNvPr id="7" name="AutoShape 7"/>
          <p:cNvSpPr/>
          <p:nvPr>
            <p:custDataLst>
              <p:tags r:id="rId3"/>
            </p:custDataLst>
          </p:nvPr>
        </p:nvSpPr>
        <p:spPr>
          <a:xfrm>
            <a:off x="5080000" y="1778000"/>
            <a:ext cx="3175000" cy="19050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4"/>
            </p:custDataLst>
          </p:nvPr>
        </p:nvSpPr>
        <p:spPr>
          <a:xfrm>
            <a:off x="5080000" y="1778000"/>
            <a:ext cx="50800" cy="19050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70500" y="1968500"/>
            <a:ext cx="304800" cy="304800"/>
          </a:xfrm>
          <a:prstGeom prst="rect">
            <a:avLst/>
          </a:prstGeom>
        </p:spPr>
      </p:pic>
      <p:sp>
        <p:nvSpPr>
          <p:cNvPr id="10" name="AutoShape 10"/>
          <p:cNvSpPr/>
          <p:nvPr>
            <p:custDataLst>
              <p:tags r:id="rId8"/>
            </p:custDataLst>
          </p:nvPr>
        </p:nvSpPr>
        <p:spPr>
          <a:xfrm>
            <a:off x="5969635" y="1930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前后端开发</a:t>
            </a:r>
            <a:endParaRPr lang="zh-CN" alt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1" name="Connector 11"/>
          <p:cNvCxnSpPr/>
          <p:nvPr>
            <p:custDataLst>
              <p:tags r:id="rId9"/>
            </p:custDataLst>
          </p:nvPr>
        </p:nvCxnSpPr>
        <p:spPr>
          <a:xfrm rot="-15626">
            <a:off x="5270514" y="2470150"/>
            <a:ext cx="27940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12" name="AutoShape 12"/>
          <p:cNvSpPr/>
          <p:nvPr>
            <p:custDataLst>
              <p:tags r:id="rId10"/>
            </p:custDataLst>
          </p:nvPr>
        </p:nvSpPr>
        <p:spPr>
          <a:xfrm>
            <a:off x="5270500" y="2603500"/>
            <a:ext cx="279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负责Node.js + Express后端API开发与部署，实现响应度计算等核心业务算法逻辑，搭建并优化MySQL数据库EAV架构，确保系统的稳定性与数据安全。基于Vue 3 + TypeScript框架进行组件化交互界面开发，配置ECharts实现6大模块图表展示，适配多端页面样式，提升用户操作体验。</a:t>
            </a:r>
            <a:endParaRPr lang="en-US" sz="1200"/>
          </a:p>
          <a:p>
            <a:pPr marL="0" indent="0" algn="l">
              <a:lnSpc>
                <a:spcPct val="108000"/>
              </a:lnSpc>
              <a:defRPr/>
            </a:pPr>
            <a:endParaRPr lang="en-US" sz="1200"/>
          </a:p>
        </p:txBody>
      </p:sp>
      <p:sp>
        <p:nvSpPr>
          <p:cNvPr id="13" name="AutoShape 13"/>
          <p:cNvSpPr/>
          <p:nvPr>
            <p:custDataLst>
              <p:tags r:id="rId11"/>
            </p:custDataLst>
          </p:nvPr>
        </p:nvSpPr>
        <p:spPr>
          <a:xfrm>
            <a:off x="8382000" y="1778000"/>
            <a:ext cx="3175000" cy="19050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custDataLst>
              <p:tags r:id="rId12"/>
            </p:custDataLst>
          </p:nvPr>
        </p:nvSpPr>
        <p:spPr>
          <a:xfrm>
            <a:off x="8382000" y="1778000"/>
            <a:ext cx="50800" cy="19050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572500" y="1968500"/>
            <a:ext cx="304800" cy="304800"/>
          </a:xfrm>
          <a:prstGeom prst="rect">
            <a:avLst/>
          </a:prstGeom>
        </p:spPr>
      </p:pic>
      <p:sp>
        <p:nvSpPr>
          <p:cNvPr id="16" name="AutoShape 16"/>
          <p:cNvSpPr/>
          <p:nvPr>
            <p:custDataLst>
              <p:tags r:id="rId16"/>
            </p:custDataLst>
          </p:nvPr>
        </p:nvSpPr>
        <p:spPr>
          <a:xfrm>
            <a:off x="9017000" y="1930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PPT</a:t>
            </a:r>
            <a:r>
              <a:rPr lang="zh-CN" alt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演示</a:t>
            </a:r>
            <a:endParaRPr lang="zh-CN" alt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7" name="Connector 17"/>
          <p:cNvCxnSpPr/>
          <p:nvPr>
            <p:custDataLst>
              <p:tags r:id="rId17"/>
            </p:custDataLst>
          </p:nvPr>
        </p:nvCxnSpPr>
        <p:spPr>
          <a:xfrm rot="-15626">
            <a:off x="8572514" y="2470150"/>
            <a:ext cx="27940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18" name="AutoShape 18"/>
          <p:cNvSpPr/>
          <p:nvPr>
            <p:custDataLst>
              <p:tags r:id="rId18"/>
            </p:custDataLst>
          </p:nvPr>
        </p:nvSpPr>
        <p:spPr>
          <a:xfrm>
            <a:off x="8572500" y="2603500"/>
            <a:ext cx="279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t>负责项目成果的PPT汇报材料制作与演示，梳理核心亮点、技术成果与应用价值，以清晰的逻辑和视觉化表达展示项目全貌。</a:t>
            </a:r>
            <a:endParaRPr lang="en-US" sz="1100"/>
          </a:p>
        </p:txBody>
      </p:sp>
      <p:sp>
        <p:nvSpPr>
          <p:cNvPr id="19" name="AutoShape 19"/>
          <p:cNvSpPr/>
          <p:nvPr>
            <p:custDataLst>
              <p:tags r:id="rId19"/>
            </p:custDataLst>
          </p:nvPr>
        </p:nvSpPr>
        <p:spPr>
          <a:xfrm>
            <a:off x="5080000" y="4064000"/>
            <a:ext cx="3175000" cy="19050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custDataLst>
              <p:tags r:id="rId20"/>
            </p:custDataLst>
          </p:nvPr>
        </p:nvSpPr>
        <p:spPr>
          <a:xfrm>
            <a:off x="5080000" y="4064000"/>
            <a:ext cx="50800" cy="19050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custDataLst>
              <p:tags r:id="rId21"/>
            </p:custDataLst>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270500" y="4254500"/>
            <a:ext cx="304800" cy="304800"/>
          </a:xfrm>
          <a:prstGeom prst="rect">
            <a:avLst/>
          </a:prstGeom>
        </p:spPr>
      </p:pic>
      <p:sp>
        <p:nvSpPr>
          <p:cNvPr id="22" name="AutoShape 22"/>
          <p:cNvSpPr/>
          <p:nvPr>
            <p:custDataLst>
              <p:tags r:id="rId24"/>
            </p:custDataLst>
          </p:nvPr>
        </p:nvSpPr>
        <p:spPr>
          <a:xfrm>
            <a:off x="5715000" y="4216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数据处理与数据库构建</a:t>
            </a:r>
            <a:endParaRPr lang="zh-CN" alt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3" name="Connector 23"/>
          <p:cNvCxnSpPr/>
          <p:nvPr>
            <p:custDataLst>
              <p:tags r:id="rId25"/>
            </p:custDataLst>
          </p:nvPr>
        </p:nvCxnSpPr>
        <p:spPr>
          <a:xfrm rot="-15626">
            <a:off x="5270514" y="4756150"/>
            <a:ext cx="27940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24" name="AutoShape 24"/>
          <p:cNvSpPr/>
          <p:nvPr>
            <p:custDataLst>
              <p:tags r:id="rId26"/>
            </p:custDataLst>
          </p:nvPr>
        </p:nvSpPr>
        <p:spPr>
          <a:xfrm>
            <a:off x="5270500" y="4889500"/>
            <a:ext cx="279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完成139个原始CSV文件的解析与整合，设计并执行MySQL EAV单表建库方案，计算化肥减量率、响应度、效率值等关键派生指标，执行严格的数据校验与省份名称标准化流程，保障12,284条数据的准确性与一致性。</a:t>
            </a:r>
            <a:endParaRPr lang="en-US" sz="1100"/>
          </a:p>
        </p:txBody>
      </p:sp>
      <p:sp>
        <p:nvSpPr>
          <p:cNvPr id="25" name="AutoShape 25"/>
          <p:cNvSpPr/>
          <p:nvPr>
            <p:custDataLst>
              <p:tags r:id="rId27"/>
            </p:custDataLst>
          </p:nvPr>
        </p:nvSpPr>
        <p:spPr>
          <a:xfrm>
            <a:off x="8382000" y="4064000"/>
            <a:ext cx="3175000" cy="19050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custDataLst>
              <p:tags r:id="rId28"/>
            </p:custDataLst>
          </p:nvPr>
        </p:nvSpPr>
        <p:spPr>
          <a:xfrm>
            <a:off x="8382000" y="4064000"/>
            <a:ext cx="50800" cy="19050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custDataLst>
              <p:tags r:id="rId29"/>
            </p:custDataLst>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8572500" y="4254500"/>
            <a:ext cx="304800" cy="304800"/>
          </a:xfrm>
          <a:prstGeom prst="rect">
            <a:avLst/>
          </a:prstGeom>
        </p:spPr>
      </p:pic>
      <p:sp>
        <p:nvSpPr>
          <p:cNvPr id="28" name="AutoShape 28"/>
          <p:cNvSpPr/>
          <p:nvPr>
            <p:custDataLst>
              <p:tags r:id="rId32"/>
            </p:custDataLst>
          </p:nvPr>
        </p:nvSpPr>
        <p:spPr>
          <a:xfrm>
            <a:off x="9017000" y="4216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文档编写</a:t>
            </a:r>
            <a:endParaRPr lang="zh-CN" alt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9" name="Connector 29"/>
          <p:cNvCxnSpPr/>
          <p:nvPr>
            <p:custDataLst>
              <p:tags r:id="rId33"/>
            </p:custDataLst>
          </p:nvPr>
        </p:nvCxnSpPr>
        <p:spPr>
          <a:xfrm rot="-15626">
            <a:off x="8572514" y="4756150"/>
            <a:ext cx="27940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30" name="AutoShape 30"/>
          <p:cNvSpPr/>
          <p:nvPr>
            <p:custDataLst>
              <p:tags r:id="rId34"/>
            </p:custDataLst>
          </p:nvPr>
        </p:nvSpPr>
        <p:spPr>
          <a:xfrm>
            <a:off x="8572500" y="4889500"/>
            <a:ext cx="279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t>负责项目文档体系的编写与维护，包括需求文档、技术方案、用户手册及项目汇报材料，确保项目知识资产的完整性与可用性。</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研究基础</a:t>
            </a:r>
            <a:endParaRPr lang="en-US" sz="1100"/>
          </a:p>
        </p:txBody>
      </p:sp>
      <p:sp>
        <p:nvSpPr>
          <p:cNvPr id="4" name="AutoShape 4"/>
          <p:cNvSpPr/>
          <p:nvPr/>
        </p:nvSpPr>
        <p:spPr>
          <a:xfrm>
            <a:off x="762000" y="2032000"/>
            <a:ext cx="3429000" cy="3429000"/>
          </a:xfrm>
          <a:prstGeom prst="roundRect">
            <a:avLst>
              <a:gd name="adj" fmla="val 0"/>
            </a:avLst>
          </a:prstGeom>
          <a:solidFill>
            <a:srgbClr val="FFFFFF">
              <a:alpha val="65000"/>
            </a:srgbClr>
          </a:solidFill>
          <a:ln w="12700" cap="flat" cmpd="sng">
            <a:solidFill>
              <a:srgbClr val="556B2F">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3429000" cy="508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86000"/>
            <a:ext cx="406400" cy="406400"/>
          </a:xfrm>
          <a:prstGeom prst="rect">
            <a:avLst/>
          </a:prstGeom>
        </p:spPr>
      </p:pic>
      <p:sp>
        <p:nvSpPr>
          <p:cNvPr id="7" name="AutoShape 7"/>
          <p:cNvSpPr/>
          <p:nvPr/>
        </p:nvSpPr>
        <p:spPr>
          <a:xfrm>
            <a:off x="1549400" y="22606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数据基础</a:t>
            </a:r>
            <a:endParaRPr lang="en-US" sz="1100"/>
          </a:p>
        </p:txBody>
      </p:sp>
      <p:cxnSp>
        <p:nvCxnSpPr>
          <p:cNvPr id="8" name="Connector 8"/>
          <p:cNvCxnSpPr/>
          <p:nvPr/>
        </p:nvCxnSpPr>
        <p:spPr>
          <a:xfrm rot="-14946">
            <a:off x="1016014" y="2914650"/>
            <a:ext cx="2921000" cy="12700"/>
          </a:xfrm>
          <a:prstGeom prst="straightConnector1">
            <a:avLst/>
          </a:prstGeom>
          <a:solidFill>
            <a:srgbClr val="DEE0E3">
              <a:alpha val="100000"/>
            </a:srgbClr>
          </a:solidFill>
          <a:ln w="12700" cap="flat" cmpd="sng">
            <a:solidFill>
              <a:srgbClr val="556B2F">
                <a:alpha val="20000"/>
              </a:srgbClr>
            </a:solidFill>
            <a:prstDash val="dash"/>
            <a:round/>
            <a:headEnd type="none" w="med" len="med"/>
            <a:tailEnd type="none" w="med" len="med"/>
          </a:ln>
        </p:spPr>
      </p:cxnSp>
      <p:sp>
        <p:nvSpPr>
          <p:cNvPr id="9" name="AutoShape 9"/>
          <p:cNvSpPr/>
          <p:nvPr/>
        </p:nvSpPr>
        <p:spPr>
          <a:xfrm>
            <a:off x="952500" y="3175000"/>
            <a:ext cx="3048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权威数据源：依托国家统计局公开权威数据，覆盖14大类139个CSV文件，从源头保障分析结论的客观性、准确性与可信度。</a:t>
            </a:r>
            <a:endParaRPr lang="en-US" sz="1100"/>
          </a:p>
          <a:p>
            <a:pPr marL="0" indent="0" algn="l">
              <a:lnSpc>
                <a:spcPct val="117000"/>
              </a:lnSpc>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体系化梳理：完成14项核心农业指标的体系构建，全面覆盖化肥施用、粮食生产、农业机械、农村经济、人口等关键研究维度。</a:t>
            </a:r>
            <a:endPar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4381500" y="2032000"/>
            <a:ext cx="3429000" cy="3429000"/>
          </a:xfrm>
          <a:prstGeom prst="roundRect">
            <a:avLst>
              <a:gd name="adj" fmla="val 0"/>
            </a:avLst>
          </a:prstGeom>
          <a:solidFill>
            <a:srgbClr val="FFFFFF">
              <a:alpha val="65000"/>
            </a:srgbClr>
          </a:solidFill>
          <a:ln w="12700" cap="flat" cmpd="sng">
            <a:solidFill>
              <a:srgbClr val="556B2F">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381500" y="2032000"/>
            <a:ext cx="3429000" cy="508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2286000"/>
            <a:ext cx="406400" cy="406400"/>
          </a:xfrm>
          <a:prstGeom prst="rect">
            <a:avLst/>
          </a:prstGeom>
        </p:spPr>
      </p:pic>
      <p:sp>
        <p:nvSpPr>
          <p:cNvPr id="13" name="AutoShape 13"/>
          <p:cNvSpPr/>
          <p:nvPr/>
        </p:nvSpPr>
        <p:spPr>
          <a:xfrm>
            <a:off x="5168900" y="22606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技术基础</a:t>
            </a:r>
            <a:endParaRPr lang="en-US" sz="1100"/>
          </a:p>
        </p:txBody>
      </p:sp>
      <p:cxnSp>
        <p:nvCxnSpPr>
          <p:cNvPr id="14" name="Connector 14"/>
          <p:cNvCxnSpPr/>
          <p:nvPr/>
        </p:nvCxnSpPr>
        <p:spPr>
          <a:xfrm rot="-14946">
            <a:off x="4635514" y="2914650"/>
            <a:ext cx="2921000" cy="12700"/>
          </a:xfrm>
          <a:prstGeom prst="straightConnector1">
            <a:avLst/>
          </a:prstGeom>
          <a:solidFill>
            <a:srgbClr val="DEE0E3">
              <a:alpha val="100000"/>
            </a:srgbClr>
          </a:solidFill>
          <a:ln w="12700" cap="flat" cmpd="sng">
            <a:solidFill>
              <a:srgbClr val="556B2F">
                <a:alpha val="20000"/>
              </a:srgbClr>
            </a:solidFill>
            <a:prstDash val="dash"/>
            <a:round/>
            <a:headEnd type="none" w="med" len="med"/>
            <a:tailEnd type="none" w="med" len="med"/>
          </a:ln>
        </p:spPr>
      </p:cxnSp>
      <p:sp>
        <p:nvSpPr>
          <p:cNvPr id="15" name="AutoShape 15"/>
          <p:cNvSpPr/>
          <p:nvPr/>
        </p:nvSpPr>
        <p:spPr>
          <a:xfrm>
            <a:off x="4572000" y="3175000"/>
            <a:ext cx="3048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技术积累：团队具备扎实的Node.js全栈开发、Vue 3前端可视化及MySQL数据库设计能力，为12,284条数据的处理与展示提供全面技术支撑。</a:t>
            </a:r>
            <a:endParaRPr lang="en-US" sz="1100"/>
          </a:p>
          <a:p>
            <a:pPr marL="0" indent="0" algn="l">
              <a:lnSpc>
                <a:spcPct val="117000"/>
              </a:lnSpc>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逻辑认知：深入理解农业绿色转型的政策逻辑与数据可视化表达规律，确保技术应用贴合化肥减量增效研究场景的实际需求。</a:t>
            </a:r>
            <a:endPar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8001000" y="2032000"/>
            <a:ext cx="3429000" cy="3429000"/>
          </a:xfrm>
          <a:prstGeom prst="roundRect">
            <a:avLst>
              <a:gd name="adj" fmla="val 0"/>
            </a:avLst>
          </a:prstGeom>
          <a:solidFill>
            <a:srgbClr val="FFFFFF">
              <a:alpha val="65000"/>
            </a:srgbClr>
          </a:solidFill>
          <a:ln w="12700" cap="flat" cmpd="sng">
            <a:solidFill>
              <a:srgbClr val="556B2F">
                <a:alpha val="3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001000" y="2032000"/>
            <a:ext cx="3429000" cy="508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2286000"/>
            <a:ext cx="406400" cy="406400"/>
          </a:xfrm>
          <a:prstGeom prst="rect">
            <a:avLst/>
          </a:prstGeom>
        </p:spPr>
      </p:pic>
      <p:sp>
        <p:nvSpPr>
          <p:cNvPr id="19" name="AutoShape 19"/>
          <p:cNvSpPr/>
          <p:nvPr/>
        </p:nvSpPr>
        <p:spPr>
          <a:xfrm>
            <a:off x="8788400" y="22606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领域基础</a:t>
            </a:r>
            <a:endParaRPr lang="en-US" sz="1100"/>
          </a:p>
        </p:txBody>
      </p:sp>
      <p:cxnSp>
        <p:nvCxnSpPr>
          <p:cNvPr id="20" name="Connector 20"/>
          <p:cNvCxnSpPr/>
          <p:nvPr/>
        </p:nvCxnSpPr>
        <p:spPr>
          <a:xfrm rot="-14946">
            <a:off x="8255014" y="2914650"/>
            <a:ext cx="2921000" cy="12700"/>
          </a:xfrm>
          <a:prstGeom prst="straightConnector1">
            <a:avLst/>
          </a:prstGeom>
          <a:solidFill>
            <a:srgbClr val="DEE0E3">
              <a:alpha val="100000"/>
            </a:srgbClr>
          </a:solidFill>
          <a:ln w="12700" cap="flat" cmpd="sng">
            <a:solidFill>
              <a:srgbClr val="556B2F">
                <a:alpha val="20000"/>
              </a:srgbClr>
            </a:solidFill>
            <a:prstDash val="dash"/>
            <a:round/>
            <a:headEnd type="none" w="med" len="med"/>
            <a:tailEnd type="none" w="med" len="med"/>
          </a:ln>
        </p:spPr>
      </p:cxnSp>
      <p:sp>
        <p:nvSpPr>
          <p:cNvPr id="21" name="AutoShape 21"/>
          <p:cNvSpPr/>
          <p:nvPr/>
        </p:nvSpPr>
        <p:spPr>
          <a:xfrm>
            <a:off x="8191500" y="3175000"/>
            <a:ext cx="3048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六维综合效率评估模型（雷达图）</a:t>
            </a:r>
            <a:endParaRPr lang="en-US" sz="1100"/>
          </a:p>
          <a:p>
            <a:pPr marL="0" indent="0" algn="l">
              <a:lnSpc>
                <a:spcPct val="117000"/>
              </a:lnSpc>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场景贴合：确保可视化结果与农业绿色转型的真实研究需求高度契合，为化肥减量增效政策的精准制定提供科学参考依据。</a:t>
            </a:r>
            <a:endPar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762000" y="5778500"/>
            <a:ext cx="10668000" cy="7620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952500" y="5905500"/>
            <a:ext cx="1028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C4632"/>
                </a:solidFill>
                <a:latin typeface="Noto Sans SC" panose="020B0200000000000000" charset="-122"/>
                <a:ea typeface="Noto Sans SC" panose="020B0200000000000000" charset="-122"/>
                <a:cs typeface="Noto Sans SC" panose="020B0200000000000000" charset="-122"/>
                <a:sym typeface="Noto Sans SC" panose="020B0200000000000000" charset="-122"/>
              </a:rPr>
              <a:t>12,284条数据、全栈TypeScript工程化技术与农业绿色转型领域认知的深度融合，构建了项目坚实的研究基石，确保成果兼具科学性、实用性与前瞻性。</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413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556B2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4" name="AutoShape 4"/>
          <p:cNvSpPr/>
          <p:nvPr/>
        </p:nvSpPr>
        <p:spPr>
          <a:xfrm>
            <a:off x="5461000" y="4191000"/>
            <a:ext cx="1270000" cy="381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572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实际应用</a:t>
            </a:r>
            <a:endParaRPr lang="en-US" sz="1100"/>
          </a:p>
        </p:txBody>
      </p:sp>
      <p:sp>
        <p:nvSpPr>
          <p:cNvPr id="6" name="AutoShape 6"/>
          <p:cNvSpPr/>
          <p:nvPr/>
        </p:nvSpPr>
        <p:spPr>
          <a:xfrm>
            <a:off x="0" y="5715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600" b="0" i="0" u="none" strike="noStrike" spc="400">
                <a:solidFill>
                  <a:srgbClr val="333333">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APPLICATIONS</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应用场景</a:t>
            </a:r>
            <a:endParaRPr lang="en-US" sz="1100"/>
          </a:p>
        </p:txBody>
      </p:sp>
      <p:sp>
        <p:nvSpPr>
          <p:cNvPr id="4" name="AutoShape 4"/>
          <p:cNvSpPr/>
          <p:nvPr/>
        </p:nvSpPr>
        <p:spPr>
          <a:xfrm>
            <a:off x="762000" y="1778000"/>
            <a:ext cx="3378200" cy="2667000"/>
          </a:xfrm>
          <a:prstGeom prst="roundRect">
            <a:avLst>
              <a:gd name="adj" fmla="val 0"/>
            </a:avLst>
          </a:prstGeom>
          <a:solidFill>
            <a:srgbClr val="556B2F">
              <a:alpha val="5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l="13597" r="13597"/>
          <a:stretch>
            <a:fillRect/>
          </a:stretch>
        </p:blipFill>
        <p:spPr>
          <a:xfrm>
            <a:off x="889000" y="1905000"/>
            <a:ext cx="3124200" cy="2413000"/>
          </a:xfrm>
          <a:prstGeom prst="rect">
            <a:avLst/>
          </a:prstGeom>
          <a:noFill/>
          <a:ln w="25400" cap="flat" cmpd="sng">
            <a:noFill/>
            <a:prstDash val="solid"/>
            <a:round/>
          </a:ln>
        </p:spPr>
      </p:pic>
      <p:sp>
        <p:nvSpPr>
          <p:cNvPr id="6" name="AutoShape 6"/>
          <p:cNvSpPr/>
          <p:nvPr/>
        </p:nvSpPr>
        <p:spPr>
          <a:xfrm>
            <a:off x="762000" y="4699000"/>
            <a:ext cx="50800" cy="3048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39800" y="4673600"/>
            <a:ext cx="30734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农业农村管理决策</a:t>
            </a:r>
            <a:endParaRPr lang="en-US" sz="1100"/>
          </a:p>
        </p:txBody>
      </p:sp>
      <p:cxnSp>
        <p:nvCxnSpPr>
          <p:cNvPr id="8" name="Connector 8"/>
          <p:cNvCxnSpPr/>
          <p:nvPr/>
        </p:nvCxnSpPr>
        <p:spPr>
          <a:xfrm rot="-12923">
            <a:off x="762012" y="5200650"/>
            <a:ext cx="33782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9" name="AutoShape 9"/>
          <p:cNvSpPr/>
          <p:nvPr/>
        </p:nvSpPr>
        <p:spPr>
          <a:xfrm>
            <a:off x="762000" y="5334000"/>
            <a:ext cx="3378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4B4B"/>
                </a:solidFill>
                <a:latin typeface="Noto Sans SC" panose="020B0200000000000000" charset="-122"/>
                <a:ea typeface="Noto Sans SC" panose="020B0200000000000000" charset="-122"/>
                <a:cs typeface="Noto Sans SC" panose="020B0200000000000000" charset="-122"/>
                <a:sym typeface="Noto Sans SC" panose="020B0200000000000000" charset="-122"/>
              </a:rPr>
              <a:t>为地方农业部门提供化肥减量增效专项数据看板，直观呈现各省化肥减量率、政策响应度与粮食安全态势，辅助化肥减量政策执行效果评估与粮食生产布局优化的科学决策。</a:t>
            </a:r>
            <a:endParaRPr lang="en-US" sz="1100"/>
          </a:p>
        </p:txBody>
      </p:sp>
      <p:sp>
        <p:nvSpPr>
          <p:cNvPr id="10" name="AutoShape 10"/>
          <p:cNvSpPr/>
          <p:nvPr/>
        </p:nvSpPr>
        <p:spPr>
          <a:xfrm>
            <a:off x="4406900" y="1778000"/>
            <a:ext cx="3378200" cy="2667000"/>
          </a:xfrm>
          <a:prstGeom prst="roundRect">
            <a:avLst>
              <a:gd name="adj" fmla="val 0"/>
            </a:avLst>
          </a:prstGeom>
          <a:solidFill>
            <a:srgbClr val="556B2F">
              <a:alpha val="5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srcRect l="1472" r="1472"/>
          <a:stretch>
            <a:fillRect/>
          </a:stretch>
        </p:blipFill>
        <p:spPr>
          <a:xfrm>
            <a:off x="4533900" y="1905000"/>
            <a:ext cx="3124200" cy="2413000"/>
          </a:xfrm>
          <a:prstGeom prst="rect">
            <a:avLst/>
          </a:prstGeom>
          <a:noFill/>
          <a:ln w="25400" cap="flat" cmpd="sng">
            <a:noFill/>
            <a:prstDash val="solid"/>
            <a:round/>
          </a:ln>
        </p:spPr>
      </p:pic>
      <p:sp>
        <p:nvSpPr>
          <p:cNvPr id="12" name="AutoShape 12"/>
          <p:cNvSpPr/>
          <p:nvPr/>
        </p:nvSpPr>
        <p:spPr>
          <a:xfrm>
            <a:off x="4406900" y="4699000"/>
            <a:ext cx="50800" cy="3048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584700" y="4673600"/>
            <a:ext cx="30734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科研与教学分析</a:t>
            </a:r>
            <a:endParaRPr lang="en-US" sz="1100"/>
          </a:p>
        </p:txBody>
      </p:sp>
      <p:cxnSp>
        <p:nvCxnSpPr>
          <p:cNvPr id="14" name="Connector 14"/>
          <p:cNvCxnSpPr/>
          <p:nvPr/>
        </p:nvCxnSpPr>
        <p:spPr>
          <a:xfrm rot="-12923">
            <a:off x="4406912" y="5200650"/>
            <a:ext cx="33782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15" name="AutoShape 15"/>
          <p:cNvSpPr/>
          <p:nvPr/>
        </p:nvSpPr>
        <p:spPr>
          <a:xfrm>
            <a:off x="4406900" y="5334000"/>
            <a:ext cx="3378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4B4B"/>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作为农业经济学、资源环境政策领域的优质教学案例，清晰展示化肥减量与粮食增产的多维数据关系、31省响应度差异及空间分布规律，助力科研探索与专业人才培养。</a:t>
            </a:r>
            <a:endParaRPr lang="en-US" sz="1100"/>
          </a:p>
        </p:txBody>
      </p:sp>
      <p:sp>
        <p:nvSpPr>
          <p:cNvPr id="16" name="AutoShape 16"/>
          <p:cNvSpPr/>
          <p:nvPr/>
        </p:nvSpPr>
        <p:spPr>
          <a:xfrm>
            <a:off x="8051800" y="1778000"/>
            <a:ext cx="3378200" cy="2667000"/>
          </a:xfrm>
          <a:prstGeom prst="roundRect">
            <a:avLst>
              <a:gd name="adj" fmla="val 0"/>
            </a:avLst>
          </a:prstGeom>
          <a:solidFill>
            <a:srgbClr val="556B2F">
              <a:alpha val="5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4"/>
          <a:srcRect l="13585" r="13585"/>
          <a:stretch>
            <a:fillRect/>
          </a:stretch>
        </p:blipFill>
        <p:spPr>
          <a:xfrm>
            <a:off x="8178800" y="1905000"/>
            <a:ext cx="3124200" cy="2413000"/>
          </a:xfrm>
          <a:prstGeom prst="rect">
            <a:avLst/>
          </a:prstGeom>
          <a:noFill/>
          <a:ln w="25400" cap="flat" cmpd="sng">
            <a:noFill/>
            <a:prstDash val="solid"/>
            <a:round/>
          </a:ln>
        </p:spPr>
      </p:pic>
      <p:sp>
        <p:nvSpPr>
          <p:cNvPr id="18" name="AutoShape 18"/>
          <p:cNvSpPr/>
          <p:nvPr/>
        </p:nvSpPr>
        <p:spPr>
          <a:xfrm>
            <a:off x="8051800" y="4699000"/>
            <a:ext cx="50800" cy="3048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229600" y="4673600"/>
            <a:ext cx="30734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公众科普展示</a:t>
            </a:r>
            <a:endParaRPr lang="en-US" sz="1100"/>
          </a:p>
        </p:txBody>
      </p:sp>
      <p:cxnSp>
        <p:nvCxnSpPr>
          <p:cNvPr id="20" name="Connector 20"/>
          <p:cNvCxnSpPr/>
          <p:nvPr/>
        </p:nvCxnSpPr>
        <p:spPr>
          <a:xfrm rot="-12923">
            <a:off x="8051812" y="5200650"/>
            <a:ext cx="3378200" cy="12700"/>
          </a:xfrm>
          <a:prstGeom prst="straightConnector1">
            <a:avLst/>
          </a:prstGeom>
          <a:solidFill>
            <a:srgbClr val="DEE0E3">
              <a:alpha val="100000"/>
            </a:srgbClr>
          </a:solidFill>
          <a:ln w="12700" cap="flat" cmpd="sng">
            <a:solidFill>
              <a:srgbClr val="556B2F">
                <a:alpha val="20000"/>
              </a:srgbClr>
            </a:solidFill>
            <a:prstDash val="solid"/>
            <a:round/>
            <a:headEnd type="none" w="med" len="med"/>
            <a:tailEnd type="none" w="med" len="med"/>
          </a:ln>
        </p:spPr>
      </p:cxnSp>
      <p:sp>
        <p:nvSpPr>
          <p:cNvPr id="21" name="AutoShape 21"/>
          <p:cNvSpPr/>
          <p:nvPr/>
        </p:nvSpPr>
        <p:spPr>
          <a:xfrm>
            <a:off x="8051800" y="5334000"/>
            <a:ext cx="3378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4B4B"/>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通过沉浸式可视化大屏向公众生动呈现中国化肥减量增效与农业绿色转型的丰硕成果，以直观易懂的可视化方式普及绿色农业知识，提升公众对农业可持续发展战略的认知与认同。</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应用价值</a:t>
            </a:r>
            <a:endParaRPr lang="en-US" sz="1100"/>
          </a:p>
        </p:txBody>
      </p:sp>
      <p:sp>
        <p:nvSpPr>
          <p:cNvPr id="4" name="AutoShape 4"/>
          <p:cNvSpPr/>
          <p:nvPr/>
        </p:nvSpPr>
        <p:spPr>
          <a:xfrm>
            <a:off x="762000" y="2286000"/>
            <a:ext cx="3378200" cy="30480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286000"/>
            <a:ext cx="3378200" cy="508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603500"/>
            <a:ext cx="457200" cy="457200"/>
          </a:xfrm>
          <a:prstGeom prst="rect">
            <a:avLst/>
          </a:prstGeom>
        </p:spPr>
      </p:pic>
      <p:sp>
        <p:nvSpPr>
          <p:cNvPr id="7" name="AutoShape 7"/>
          <p:cNvSpPr/>
          <p:nvPr/>
        </p:nvSpPr>
        <p:spPr>
          <a:xfrm>
            <a:off x="1587500" y="25654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01 效率提升</a:t>
            </a:r>
            <a:endParaRPr lang="en-US" sz="1100"/>
          </a:p>
        </p:txBody>
      </p:sp>
      <p:cxnSp>
        <p:nvCxnSpPr>
          <p:cNvPr id="8" name="Connector 8"/>
          <p:cNvCxnSpPr/>
          <p:nvPr/>
        </p:nvCxnSpPr>
        <p:spPr>
          <a:xfrm rot="-15211">
            <a:off x="1016014" y="3422650"/>
            <a:ext cx="2870200" cy="12700"/>
          </a:xfrm>
          <a:prstGeom prst="straightConnector1">
            <a:avLst/>
          </a:prstGeom>
          <a:solidFill>
            <a:srgbClr val="DEE0E3">
              <a:alpha val="100000"/>
            </a:srgbClr>
          </a:solidFill>
          <a:ln w="12700" cap="flat" cmpd="sng">
            <a:solidFill>
              <a:srgbClr val="556B2F">
                <a:alpha val="30000"/>
              </a:srgbClr>
            </a:solidFill>
            <a:prstDash val="solid"/>
            <a:round/>
            <a:headEnd type="none" w="med" len="med"/>
            <a:tailEnd type="none" w="med" len="med"/>
          </a:ln>
        </p:spPr>
      </p:cxnSp>
      <p:sp>
        <p:nvSpPr>
          <p:cNvPr id="9" name="AutoShape 9"/>
          <p:cNvSpPr/>
          <p:nvPr/>
        </p:nvSpPr>
        <p:spPr>
          <a:xfrm>
            <a:off x="1016000" y="3683000"/>
            <a:ext cx="2870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将12,284条碎片化农业数据转化为6大模块的可视化监测大屏，降低数据解读门槛，让决策者能直观、快速地洞察化肥减量增效的关键信息，显著提升政策评估与决策效率。</a:t>
            </a:r>
            <a:endParaRPr lang="en-US" sz="1100"/>
          </a:p>
        </p:txBody>
      </p:sp>
      <p:sp>
        <p:nvSpPr>
          <p:cNvPr id="10" name="AutoShape 10"/>
          <p:cNvSpPr/>
          <p:nvPr/>
        </p:nvSpPr>
        <p:spPr>
          <a:xfrm>
            <a:off x="4406900" y="2286000"/>
            <a:ext cx="3378200" cy="30480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406900" y="2286000"/>
            <a:ext cx="3378200" cy="508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2603500"/>
            <a:ext cx="457200" cy="457200"/>
          </a:xfrm>
          <a:prstGeom prst="rect">
            <a:avLst/>
          </a:prstGeom>
        </p:spPr>
      </p:pic>
      <p:sp>
        <p:nvSpPr>
          <p:cNvPr id="13" name="AutoShape 13"/>
          <p:cNvSpPr/>
          <p:nvPr/>
        </p:nvSpPr>
        <p:spPr>
          <a:xfrm>
            <a:off x="5232400" y="25654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02 维度拓展</a:t>
            </a:r>
            <a:endParaRPr lang="en-US" sz="1100"/>
          </a:p>
        </p:txBody>
      </p:sp>
      <p:cxnSp>
        <p:nvCxnSpPr>
          <p:cNvPr id="14" name="Connector 14"/>
          <p:cNvCxnSpPr/>
          <p:nvPr/>
        </p:nvCxnSpPr>
        <p:spPr>
          <a:xfrm rot="-15211">
            <a:off x="4660914" y="3422650"/>
            <a:ext cx="2870200" cy="12700"/>
          </a:xfrm>
          <a:prstGeom prst="straightConnector1">
            <a:avLst/>
          </a:prstGeom>
          <a:solidFill>
            <a:srgbClr val="DEE0E3">
              <a:alpha val="100000"/>
            </a:srgbClr>
          </a:solidFill>
          <a:ln w="12700" cap="flat" cmpd="sng">
            <a:solidFill>
              <a:srgbClr val="556B2F">
                <a:alpha val="30000"/>
              </a:srgbClr>
            </a:solidFill>
            <a:prstDash val="solid"/>
            <a:round/>
            <a:headEnd type="none" w="med" len="med"/>
            <a:tailEnd type="none" w="med" len="med"/>
          </a:ln>
        </p:spPr>
      </p:cxnSp>
      <p:sp>
        <p:nvSpPr>
          <p:cNvPr id="15" name="AutoShape 15"/>
          <p:cNvSpPr/>
          <p:nvPr/>
        </p:nvSpPr>
        <p:spPr>
          <a:xfrm>
            <a:off x="4660900" y="3683000"/>
            <a:ext cx="2870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创新性地从投入、产出、替代、经济、效率5个维度构建综合响应评估体系，将地理空间分布与政策响应程度深度融合，填补了传统农业数据分析"重统计、轻响应评估"的空白。</a:t>
            </a:r>
            <a:endParaRPr lang="en-US" sz="1100"/>
          </a:p>
        </p:txBody>
      </p:sp>
      <p:sp>
        <p:nvSpPr>
          <p:cNvPr id="16" name="AutoShape 16"/>
          <p:cNvSpPr/>
          <p:nvPr/>
        </p:nvSpPr>
        <p:spPr>
          <a:xfrm>
            <a:off x="8051800" y="2286000"/>
            <a:ext cx="3378200" cy="3048000"/>
          </a:xfrm>
          <a:prstGeom prst="roundRect">
            <a:avLst>
              <a:gd name="adj" fmla="val 0"/>
            </a:avLst>
          </a:prstGeom>
          <a:solidFill>
            <a:srgbClr val="556B2F">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051800" y="2286000"/>
            <a:ext cx="3378200" cy="50800"/>
          </a:xfrm>
          <a:prstGeom prst="roundRect">
            <a:avLst>
              <a:gd name="adj" fmla="val 0"/>
            </a:avLst>
          </a:prstGeom>
          <a:solidFill>
            <a:srgbClr val="556B2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05800" y="2603500"/>
            <a:ext cx="457200" cy="457200"/>
          </a:xfrm>
          <a:prstGeom prst="rect">
            <a:avLst/>
          </a:prstGeom>
        </p:spPr>
      </p:pic>
      <p:sp>
        <p:nvSpPr>
          <p:cNvPr id="19" name="AutoShape 19"/>
          <p:cNvSpPr/>
          <p:nvPr/>
        </p:nvSpPr>
        <p:spPr>
          <a:xfrm>
            <a:off x="8877300" y="25654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03 可落地性</a:t>
            </a:r>
            <a:endParaRPr lang="en-US" sz="1100"/>
          </a:p>
        </p:txBody>
      </p:sp>
      <p:cxnSp>
        <p:nvCxnSpPr>
          <p:cNvPr id="20" name="Connector 20"/>
          <p:cNvCxnSpPr/>
          <p:nvPr/>
        </p:nvCxnSpPr>
        <p:spPr>
          <a:xfrm rot="-15211">
            <a:off x="8305814" y="3422650"/>
            <a:ext cx="2870200" cy="12700"/>
          </a:xfrm>
          <a:prstGeom prst="straightConnector1">
            <a:avLst/>
          </a:prstGeom>
          <a:solidFill>
            <a:srgbClr val="DEE0E3">
              <a:alpha val="100000"/>
            </a:srgbClr>
          </a:solidFill>
          <a:ln w="12700" cap="flat" cmpd="sng">
            <a:solidFill>
              <a:srgbClr val="556B2F">
                <a:alpha val="30000"/>
              </a:srgbClr>
            </a:solidFill>
            <a:prstDash val="solid"/>
            <a:round/>
            <a:headEnd type="none" w="med" len="med"/>
            <a:tailEnd type="none" w="med" len="med"/>
          </a:ln>
        </p:spPr>
      </p:cxnSp>
      <p:sp>
        <p:nvSpPr>
          <p:cNvPr id="21" name="AutoShape 21"/>
          <p:cNvSpPr/>
          <p:nvPr/>
        </p:nvSpPr>
        <p:spPr>
          <a:xfrm>
            <a:off x="8305800" y="3683000"/>
            <a:ext cx="2870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采用全栈JavaScript/TypeScript统一技术栈，Node.js + MySQL + Vue 3 + Vite的技术组合兼顾性能与可维护性，可快速适配桌面端、展厅大屏等多种展示场景，满足不同用户的实际应用需求。</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794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
        <p:nvSpPr>
          <p:cNvPr id="4" name="AutoShape 4"/>
          <p:cNvSpPr/>
          <p:nvPr/>
        </p:nvSpPr>
        <p:spPr>
          <a:xfrm>
            <a:off x="0" y="4064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2400" b="0" i="0" u="none" strike="noStrike">
                <a:solidFill>
                  <a:srgbClr val="333333">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THANKS</a:t>
            </a:r>
            <a:endParaRPr lang="en-US" sz="1100"/>
          </a:p>
        </p:txBody>
      </p:sp>
      <p:sp>
        <p:nvSpPr>
          <p:cNvPr id="5" name="AutoShape 5"/>
          <p:cNvSpPr/>
          <p:nvPr/>
        </p:nvSpPr>
        <p:spPr>
          <a:xfrm>
            <a:off x="0" y="5588000"/>
            <a:ext cx="12192000" cy="762000"/>
          </a:xfrm>
          <a:prstGeom prst="roundRect">
            <a:avLst>
              <a:gd name="adj" fmla="val 0"/>
            </a:avLst>
          </a:prstGeom>
          <a:solidFill>
            <a:srgbClr val="FDB813">
              <a:alpha val="15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5715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让农业更强 · 农村更美 · 农民更富，用数据可视化赋能农业绿色转型战略</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370,&quot;left&quot;:60,&quot;top&quot;:130,&quot;width&quot;:840}"/>
</p:tagLst>
</file>

<file path=ppt/tags/tag2.xml><?xml version="1.0" encoding="utf-8"?>
<p:tagLst xmlns:p="http://schemas.openxmlformats.org/presentationml/2006/main">
  <p:tag name="KSO_WM_DIAGRAM_VIRTUALLY_FRAME" val="{&quot;height&quot;:370,&quot;left&quot;:60,&quot;top&quot;:130,&quot;width&quot;:840}"/>
</p:tagLst>
</file>

<file path=ppt/tags/tag3.xml><?xml version="1.0" encoding="utf-8"?>
<p:tagLst xmlns:p="http://schemas.openxmlformats.org/presentationml/2006/main">
  <p:tag name="KSO_WM_DIAGRAM_VIRTUALLY_FRAME" val="{&quot;height&quot;:370,&quot;left&quot;:60,&quot;top&quot;:130,&quot;width&quot;:840}"/>
</p:tagLst>
</file>

<file path=ppt/tags/tag4.xml><?xml version="1.0" encoding="utf-8"?>
<p:tagLst xmlns:p="http://schemas.openxmlformats.org/presentationml/2006/main">
  <p:tag name="KSO_WM_DIAGRAM_VIRTUALLY_FRAME" val="{&quot;height&quot;:370,&quot;left&quot;:60,&quot;top&quot;:130,&quot;width&quot;:840}"/>
</p:tagLst>
</file>

<file path=ppt/tags/tag5.xml><?xml version="1.0" encoding="utf-8"?>
<p:tagLst xmlns:p="http://schemas.openxmlformats.org/presentationml/2006/main">
  <p:tag name="KSO_WM_DIAGRAM_VIRTUALLY_FRAME" val="{&quot;height&quot;:370,&quot;left&quot;:60,&quot;top&quot;:130,&quot;width&quot;:840}"/>
</p:tagLst>
</file>

<file path=ppt/tags/tag6.xml><?xml version="1.0" encoding="utf-8"?>
<p:tagLst xmlns:p="http://schemas.openxmlformats.org/presentationml/2006/main">
  <p:tag name="KSO_WM_DIAGRAM_VIRTUALLY_FRAME" val="{&quot;height&quot;:370,&quot;left&quot;:60,&quot;top&quot;:130,&quot;width&quot;:840}"/>
</p:tagLst>
</file>

<file path=ppt/tags/tag7.xml><?xml version="1.0" encoding="utf-8"?>
<p:tagLst xmlns:p="http://schemas.openxmlformats.org/presentationml/2006/main">
  <p:tag name="KSO_WM_DIAGRAM_VIRTUALLY_FRAME" val="{&quot;height&quot;:370,&quot;left&quot;:60,&quot;top&quot;:130,&quot;width&quot;:840}"/>
</p:tagLst>
</file>

<file path=ppt/tags/tag8.xml><?xml version="1.0" encoding="utf-8"?>
<p:tagLst xmlns:p="http://schemas.openxmlformats.org/presentationml/2006/main">
  <p:tag name="KSO_WM_DIAGRAM_VIRTUALLY_FRAME" val="{&quot;height&quot;:370,&quot;left&quot;:60,&quot;top&quot;:130,&quot;width&quot;:840}"/>
</p:tagLst>
</file>

<file path=ppt/tags/tag9.xml><?xml version="1.0" encoding="utf-8"?>
<p:tagLst xmlns:p="http://schemas.openxmlformats.org/presentationml/2006/main">
  <p:tag name="KSO_WM_DIAGRAM_VIRTUALLY_FRAME" val="{&quot;height&quot;:370,&quot;left&quot;:60,&quot;top&quot;:130,&quot;width&quot;:840}"/>
</p:tagLst>
</file>

<file path=ppt/tags/tag10.xml><?xml version="1.0" encoding="utf-8"?>
<p:tagLst xmlns:p="http://schemas.openxmlformats.org/presentationml/2006/main">
  <p:tag name="KSO_WM_DIAGRAM_VIRTUALLY_FRAME" val="{&quot;height&quot;:370,&quot;left&quot;:60,&quot;top&quot;:130,&quot;width&quot;:840}"/>
</p:tagLst>
</file>

<file path=ppt/tags/tag11.xml><?xml version="1.0" encoding="utf-8"?>
<p:tagLst xmlns:p="http://schemas.openxmlformats.org/presentationml/2006/main">
  <p:tag name="KSO_WM_DIAGRAM_VIRTUALLY_FRAME" val="{&quot;height&quot;:370,&quot;left&quot;:60,&quot;top&quot;:130,&quot;width&quot;:840}"/>
</p:tagLst>
</file>

<file path=ppt/tags/tag12.xml><?xml version="1.0" encoding="utf-8"?>
<p:tagLst xmlns:p="http://schemas.openxmlformats.org/presentationml/2006/main">
  <p:tag name="KSO_WM_DIAGRAM_VIRTUALLY_FRAME" val="{&quot;height&quot;:370,&quot;left&quot;:60,&quot;top&quot;:130,&quot;width&quot;:840}"/>
</p:tagLst>
</file>

<file path=ppt/tags/tag13.xml><?xml version="1.0" encoding="utf-8"?>
<p:tagLst xmlns:p="http://schemas.openxmlformats.org/presentationml/2006/main">
  <p:tag name="KSO_WM_DIAGRAM_VIRTUALLY_FRAME" val="{&quot;height&quot;:370,&quot;left&quot;:60,&quot;top&quot;:130,&quot;width&quot;:840}"/>
</p:tagLst>
</file>

<file path=ppt/tags/tag14.xml><?xml version="1.0" encoding="utf-8"?>
<p:tagLst xmlns:p="http://schemas.openxmlformats.org/presentationml/2006/main">
  <p:tag name="KSO_WM_DIAGRAM_VIRTUALLY_FRAME" val="{&quot;height&quot;:370,&quot;left&quot;:60,&quot;top&quot;:130,&quot;width&quot;:840}"/>
</p:tagLst>
</file>

<file path=ppt/tags/tag15.xml><?xml version="1.0" encoding="utf-8"?>
<p:tagLst xmlns:p="http://schemas.openxmlformats.org/presentationml/2006/main">
  <p:tag name="KSO_WM_DIAGRAM_VIRTUALLY_FRAME" val="{&quot;height&quot;:370,&quot;left&quot;:60,&quot;top&quot;:130,&quot;width&quot;:840}"/>
</p:tagLst>
</file>

<file path=ppt/tags/tag16.xml><?xml version="1.0" encoding="utf-8"?>
<p:tagLst xmlns:p="http://schemas.openxmlformats.org/presentationml/2006/main">
  <p:tag name="KSO_WM_DIAGRAM_VIRTUALLY_FRAME" val="{&quot;height&quot;:370,&quot;left&quot;:60,&quot;top&quot;:130,&quot;width&quot;:840}"/>
</p:tagLst>
</file>

<file path=ppt/tags/tag17.xml><?xml version="1.0" encoding="utf-8"?>
<p:tagLst xmlns:p="http://schemas.openxmlformats.org/presentationml/2006/main">
  <p:tag name="KSO_WM_DIAGRAM_VIRTUALLY_FRAME" val="{&quot;height&quot;:370,&quot;left&quot;:60,&quot;top&quot;:130,&quot;width&quot;:840}"/>
</p:tagLst>
</file>

<file path=ppt/tags/tag18.xml><?xml version="1.0" encoding="utf-8"?>
<p:tagLst xmlns:p="http://schemas.openxmlformats.org/presentationml/2006/main">
  <p:tag name="KSO_WM_DIAGRAM_VIRTUALLY_FRAME" val="{&quot;height&quot;:370,&quot;left&quot;:60,&quot;top&quot;:130,&quot;width&quot;:840}"/>
</p:tagLst>
</file>

<file path=ppt/tags/tag19.xml><?xml version="1.0" encoding="utf-8"?>
<p:tagLst xmlns:p="http://schemas.openxmlformats.org/presentationml/2006/main">
  <p:tag name="KSO_WM_DIAGRAM_VIRTUALLY_FRAME" val="{&quot;height&quot;:370,&quot;left&quot;:60,&quot;top&quot;:130,&quot;width&quot;:840}"/>
</p:tagLst>
</file>

<file path=ppt/tags/tag20.xml><?xml version="1.0" encoding="utf-8"?>
<p:tagLst xmlns:p="http://schemas.openxmlformats.org/presentationml/2006/main">
  <p:tag name="KSO_WM_DIAGRAM_VIRTUALLY_FRAME" val="{&quot;height&quot;:370,&quot;left&quot;:60,&quot;top&quot;:130,&quot;width&quot;:840}"/>
</p:tagLst>
</file>

<file path=ppt/tags/tag21.xml><?xml version="1.0" encoding="utf-8"?>
<p:tagLst xmlns:p="http://schemas.openxmlformats.org/presentationml/2006/main">
  <p:tag name="KSO_WM_DIAGRAM_VIRTUALLY_FRAME" val="{&quot;height&quot;:370,&quot;left&quot;:60,&quot;top&quot;:130,&quot;width&quot;:840}"/>
</p:tagLst>
</file>

<file path=ppt/tags/tag22.xml><?xml version="1.0" encoding="utf-8"?>
<p:tagLst xmlns:p="http://schemas.openxmlformats.org/presentationml/2006/main">
  <p:tag name="KSO_WM_DIAGRAM_VIRTUALLY_FRAME" val="{&quot;height&quot;:370,&quot;left&quot;:60,&quot;top&quot;:130,&quot;width&quot;:840}"/>
</p:tagLst>
</file>

<file path=ppt/tags/tag23.xml><?xml version="1.0" encoding="utf-8"?>
<p:tagLst xmlns:p="http://schemas.openxmlformats.org/presentationml/2006/main">
  <p:tag name="KSO_WM_DIAGRAM_VIRTUALLY_FRAME" val="{&quot;height&quot;:370,&quot;left&quot;:60,&quot;top&quot;:130,&quot;width&quot;:840}"/>
</p:tagLst>
</file>

<file path=ppt/tags/tag24.xml><?xml version="1.0" encoding="utf-8"?>
<p:tagLst xmlns:p="http://schemas.openxmlformats.org/presentationml/2006/main">
  <p:tag name="KSO_WM_DIAGRAM_VIRTUALLY_FRAME" val="{&quot;height&quot;:370,&quot;left&quot;:60,&quot;top&quot;:130,&quot;width&quot;:840}"/>
</p:tagLst>
</file>

<file path=ppt/tags/tag25.xml><?xml version="1.0" encoding="utf-8"?>
<p:tagLst xmlns:p="http://schemas.openxmlformats.org/presentationml/2006/main">
  <p:tag name="KSO_WM_DIAGRAM_VIRTUALLY_FRAME" val="{&quot;height&quot;:370,&quot;left&quot;:60,&quot;top&quot;:130,&quot;width&quot;:840}"/>
</p:tagLst>
</file>

<file path=ppt/tags/tag26.xml><?xml version="1.0" encoding="utf-8"?>
<p:tagLst xmlns:p="http://schemas.openxmlformats.org/presentationml/2006/main">
  <p:tag name="KSO_WM_DIAGRAM_VIRTUALLY_FRAME" val="{&quot;height&quot;:370,&quot;left&quot;:60,&quot;top&quot;:130,&quot;width&quot;:840}"/>
</p:tagLst>
</file>

<file path=ppt/tags/tag27.xml><?xml version="1.0" encoding="utf-8"?>
<p:tagLst xmlns:p="http://schemas.openxmlformats.org/presentationml/2006/main">
  <p:tag name="KSO_WM_DIAGRAM_VIRTUALLY_FRAME" val="{&quot;height&quot;:370,&quot;left&quot;:60,&quot;top&quot;:130,&quot;width&quot;:840}"/>
</p:tagLst>
</file>

<file path=ppt/tags/tag28.xml><?xml version="1.0" encoding="utf-8"?>
<p:tagLst xmlns:p="http://schemas.openxmlformats.org/presentationml/2006/main">
  <p:tag name="KSO_WM_DIAGRAM_VIRTUALLY_FRAME" val="{&quot;height&quot;:370,&quot;left&quot;:60,&quot;top&quot;:130,&quot;width&quot;:840}"/>
</p:tagLst>
</file>

<file path=ppt/tags/tag29.xml><?xml version="1.0" encoding="utf-8"?>
<p:tagLst xmlns:p="http://schemas.openxmlformats.org/presentationml/2006/main">
  <p:tag name="KSO_WM_DIAGRAM_VIRTUALLY_FRAME" val="{&quot;height&quot;:370,&quot;left&quot;:60,&quot;top&quot;:130,&quot;width&quot;:840}"/>
</p:tagLst>
</file>

<file path=ppt/tags/tag30.xml><?xml version="1.0" encoding="utf-8"?>
<p:tagLst xmlns:p="http://schemas.openxmlformats.org/presentationml/2006/main">
  <p:tag name="KSO_WM_DIAGRAM_VIRTUALLY_FRAME" val="{&quot;height&quot;:370,&quot;left&quot;:60,&quot;top&quot;:130,&quot;width&quot;:840}"/>
</p:tagLst>
</file>

<file path=ppt/tags/tag31.xml><?xml version="1.0" encoding="utf-8"?>
<p:tagLst xmlns:p="http://schemas.openxmlformats.org/presentationml/2006/main">
  <p:tag name="KSO_WM_DIAGRAM_VIRTUALLY_FRAME" val="{&quot;height&quot;:330,&quot;left&quot;:400,&quot;top&quot;:140,&quot;width&quot;:510}"/>
</p:tagLst>
</file>

<file path=ppt/tags/tag32.xml><?xml version="1.0" encoding="utf-8"?>
<p:tagLst xmlns:p="http://schemas.openxmlformats.org/presentationml/2006/main">
  <p:tag name="KSO_WM_DIAGRAM_VIRTUALLY_FRAME" val="{&quot;height&quot;:330,&quot;left&quot;:400,&quot;top&quot;:140,&quot;width&quot;:510}"/>
</p:tagLst>
</file>

<file path=ppt/tags/tag33.xml><?xml version="1.0" encoding="utf-8"?>
<p:tagLst xmlns:p="http://schemas.openxmlformats.org/presentationml/2006/main">
  <p:tag name="KSO_WM_DIAGRAM_VIRTUALLY_FRAME" val="{&quot;height&quot;:330,&quot;left&quot;:400,&quot;top&quot;:140,&quot;width&quot;:510}"/>
</p:tagLst>
</file>

<file path=ppt/tags/tag34.xml><?xml version="1.0" encoding="utf-8"?>
<p:tagLst xmlns:p="http://schemas.openxmlformats.org/presentationml/2006/main">
  <p:tag name="KSO_WM_DIAGRAM_VIRTUALLY_FRAME" val="{&quot;height&quot;:330,&quot;left&quot;:400,&quot;top&quot;:140,&quot;width&quot;:510}"/>
</p:tagLst>
</file>

<file path=ppt/tags/tag35.xml><?xml version="1.0" encoding="utf-8"?>
<p:tagLst xmlns:p="http://schemas.openxmlformats.org/presentationml/2006/main">
  <p:tag name="KSO_WM_DIAGRAM_VIRTUALLY_FRAME" val="{&quot;height&quot;:330,&quot;left&quot;:400,&quot;top&quot;:140,&quot;width&quot;:510}"/>
</p:tagLst>
</file>

<file path=ppt/tags/tag36.xml><?xml version="1.0" encoding="utf-8"?>
<p:tagLst xmlns:p="http://schemas.openxmlformats.org/presentationml/2006/main">
  <p:tag name="KSO_WM_DIAGRAM_VIRTUALLY_FRAME" val="{&quot;height&quot;:330,&quot;left&quot;:400,&quot;top&quot;:140,&quot;width&quot;:510}"/>
</p:tagLst>
</file>

<file path=ppt/tags/tag37.xml><?xml version="1.0" encoding="utf-8"?>
<p:tagLst xmlns:p="http://schemas.openxmlformats.org/presentationml/2006/main">
  <p:tag name="KSO_WM_DIAGRAM_VIRTUALLY_FRAME" val="{&quot;height&quot;:330,&quot;left&quot;:400,&quot;top&quot;:140,&quot;width&quot;:510}"/>
</p:tagLst>
</file>

<file path=ppt/tags/tag38.xml><?xml version="1.0" encoding="utf-8"?>
<p:tagLst xmlns:p="http://schemas.openxmlformats.org/presentationml/2006/main">
  <p:tag name="KSO_WM_DIAGRAM_VIRTUALLY_FRAME" val="{&quot;height&quot;:330,&quot;left&quot;:400,&quot;top&quot;:140,&quot;width&quot;:510}"/>
</p:tagLst>
</file>

<file path=ppt/tags/tag39.xml><?xml version="1.0" encoding="utf-8"?>
<p:tagLst xmlns:p="http://schemas.openxmlformats.org/presentationml/2006/main">
  <p:tag name="KSO_WM_DIAGRAM_VIRTUALLY_FRAME" val="{&quot;height&quot;:330,&quot;left&quot;:400,&quot;top&quot;:140,&quot;width&quot;:510}"/>
</p:tagLst>
</file>

<file path=ppt/tags/tag40.xml><?xml version="1.0" encoding="utf-8"?>
<p:tagLst xmlns:p="http://schemas.openxmlformats.org/presentationml/2006/main">
  <p:tag name="KSO_WM_DIAGRAM_VIRTUALLY_FRAME" val="{&quot;height&quot;:330,&quot;left&quot;:400,&quot;top&quot;:140,&quot;width&quot;:510}"/>
</p:tagLst>
</file>

<file path=ppt/tags/tag41.xml><?xml version="1.0" encoding="utf-8"?>
<p:tagLst xmlns:p="http://schemas.openxmlformats.org/presentationml/2006/main">
  <p:tag name="KSO_WM_DIAGRAM_VIRTUALLY_FRAME" val="{&quot;height&quot;:330,&quot;left&quot;:400,&quot;top&quot;:140,&quot;width&quot;:510}"/>
</p:tagLst>
</file>

<file path=ppt/tags/tag42.xml><?xml version="1.0" encoding="utf-8"?>
<p:tagLst xmlns:p="http://schemas.openxmlformats.org/presentationml/2006/main">
  <p:tag name="KSO_WM_DIAGRAM_VIRTUALLY_FRAME" val="{&quot;height&quot;:330,&quot;left&quot;:400,&quot;top&quot;:140,&quot;width&quot;:510}"/>
</p:tagLst>
</file>

<file path=ppt/tags/tag43.xml><?xml version="1.0" encoding="utf-8"?>
<p:tagLst xmlns:p="http://schemas.openxmlformats.org/presentationml/2006/main">
  <p:tag name="KSO_WM_DIAGRAM_VIRTUALLY_FRAME" val="{&quot;height&quot;:330,&quot;left&quot;:400,&quot;top&quot;:140,&quot;width&quot;:510}"/>
</p:tagLst>
</file>

<file path=ppt/tags/tag44.xml><?xml version="1.0" encoding="utf-8"?>
<p:tagLst xmlns:p="http://schemas.openxmlformats.org/presentationml/2006/main">
  <p:tag name="KSO_WM_DIAGRAM_VIRTUALLY_FRAME" val="{&quot;height&quot;:330,&quot;left&quot;:400,&quot;top&quot;:140,&quot;width&quot;:510}"/>
</p:tagLst>
</file>

<file path=ppt/tags/tag45.xml><?xml version="1.0" encoding="utf-8"?>
<p:tagLst xmlns:p="http://schemas.openxmlformats.org/presentationml/2006/main">
  <p:tag name="KSO_WM_DIAGRAM_VIRTUALLY_FRAME" val="{&quot;height&quot;:330,&quot;left&quot;:400,&quot;top&quot;:140,&quot;width&quot;:510}"/>
</p:tagLst>
</file>

<file path=ppt/tags/tag46.xml><?xml version="1.0" encoding="utf-8"?>
<p:tagLst xmlns:p="http://schemas.openxmlformats.org/presentationml/2006/main">
  <p:tag name="KSO_WM_DIAGRAM_VIRTUALLY_FRAME" val="{&quot;height&quot;:330,&quot;left&quot;:400,&quot;top&quot;:140,&quot;width&quot;:510}"/>
</p:tagLst>
</file>

<file path=ppt/tags/tag47.xml><?xml version="1.0" encoding="utf-8"?>
<p:tagLst xmlns:p="http://schemas.openxmlformats.org/presentationml/2006/main">
  <p:tag name="KSO_WM_DIAGRAM_VIRTUALLY_FRAME" val="{&quot;height&quot;:330,&quot;left&quot;:400,&quot;top&quot;:140,&quot;width&quot;:510}"/>
</p:tagLst>
</file>

<file path=ppt/tags/tag48.xml><?xml version="1.0" encoding="utf-8"?>
<p:tagLst xmlns:p="http://schemas.openxmlformats.org/presentationml/2006/main">
  <p:tag name="KSO_WM_DIAGRAM_VIRTUALLY_FRAME" val="{&quot;height&quot;:330,&quot;left&quot;:400,&quot;top&quot;:140,&quot;width&quot;:510}"/>
</p:tagLst>
</file>

<file path=ppt/tags/tag49.xml><?xml version="1.0" encoding="utf-8"?>
<p:tagLst xmlns:p="http://schemas.openxmlformats.org/presentationml/2006/main">
  <p:tag name="KSO_WM_DIAGRAM_VIRTUALLY_FRAME" val="{&quot;height&quot;:330,&quot;left&quot;:400,&quot;top&quot;:140,&quot;width&quot;:510}"/>
</p:tagLst>
</file>

<file path=ppt/tags/tag50.xml><?xml version="1.0" encoding="utf-8"?>
<p:tagLst xmlns:p="http://schemas.openxmlformats.org/presentationml/2006/main">
  <p:tag name="KSO_WM_DIAGRAM_VIRTUALLY_FRAME" val="{&quot;height&quot;:330,&quot;left&quot;:400,&quot;top&quot;:140,&quot;width&quot;:510}"/>
</p:tagLst>
</file>

<file path=ppt/tags/tag51.xml><?xml version="1.0" encoding="utf-8"?>
<p:tagLst xmlns:p="http://schemas.openxmlformats.org/presentationml/2006/main">
  <p:tag name="KSO_WM_DIAGRAM_VIRTUALLY_FRAME" val="{&quot;height&quot;:330,&quot;left&quot;:400,&quot;top&quot;:140,&quot;width&quot;:510}"/>
</p:tagLst>
</file>

<file path=ppt/tags/tag52.xml><?xml version="1.0" encoding="utf-8"?>
<p:tagLst xmlns:p="http://schemas.openxmlformats.org/presentationml/2006/main">
  <p:tag name="KSO_WM_DIAGRAM_VIRTUALLY_FRAME" val="{&quot;height&quot;:330,&quot;left&quot;:400,&quot;top&quot;:140,&quot;width&quot;:510}"/>
</p:tagLst>
</file>

<file path=ppt/tags/tag53.xml><?xml version="1.0" encoding="utf-8"?>
<p:tagLst xmlns:p="http://schemas.openxmlformats.org/presentationml/2006/main">
  <p:tag name="KSO_WM_DIAGRAM_VIRTUALLY_FRAME" val="{&quot;height&quot;:330,&quot;left&quot;:400,&quot;top&quot;:140,&quot;width&quot;:510}"/>
</p:tagLst>
</file>

<file path=ppt/tags/tag54.xml><?xml version="1.0" encoding="utf-8"?>
<p:tagLst xmlns:p="http://schemas.openxmlformats.org/presentationml/2006/main">
  <p:tag name="KSO_WM_DIAGRAM_VIRTUALLY_FRAME" val="{&quot;height&quot;:330,&quot;left&quot;:400,&quot;top&quot;:140,&quot;width&quot;:51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6778</Words>
  <Application>WPS 演示</Application>
  <PresentationFormat/>
  <Paragraphs>354</Paragraphs>
  <Slides>23</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23</vt:i4>
      </vt:variant>
    </vt:vector>
  </HeadingPairs>
  <TitlesOfParts>
    <vt:vector size="32"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陌岁</cp:lastModifiedBy>
  <cp:revision>3</cp:revision>
  <dcterms:created xsi:type="dcterms:W3CDTF">2026-06-15T08:49:00Z</dcterms:created>
  <dcterms:modified xsi:type="dcterms:W3CDTF">2026-06-15T09:21:20Z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{"Label":"1","ContentProducer":"001191110102MACQD9K64010000","ProduceID":"7649665918323788749","ReservedCode1":"","ContentPropagator":"","PropagateID":"","ReservedCode2":""}</vt:lpwstr>
  </property>
  <property fmtid="{D5CDD505-2E9C-101B-9397-08002B2CF9AE}" pid="3" name="KSOProductBuildVer">
    <vt:lpwstr>2052-12.1.0.26895</vt:lpwstr>
  </property>
  <property fmtid="{D5CDD505-2E9C-101B-9397-08002B2CF9AE}" pid="4" name="ICV">
    <vt:lpwstr>71F4E2BA138F43979DD4E3BE0C5334A6_12</vt:lpwstr>
  </property>
</Properties>
</file>